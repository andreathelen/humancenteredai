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5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65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70154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txBody>
          <a:bodyPr/>
          <a:lstStyle/>
          <a:p>
            <a:endParaRPr lang="de-DE" dirty="0"/>
          </a:p>
        </p:txBody>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t>May 2026</a:t>
            </a:r>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1 / 6</a:t>
            </a:r>
            <a:endParaRPr lang="en-US" sz="900" dirty="0"/>
          </a:p>
        </p:txBody>
      </p:sp>
      <p:sp>
        <p:nvSpPr>
          <p:cNvPr id="10" name="Text 8"/>
          <p:cNvSpPr/>
          <p:nvPr/>
        </p:nvSpPr>
        <p:spPr>
          <a:xfrm>
            <a:off x="548640" y="1828800"/>
            <a:ext cx="11094415" cy="914400"/>
          </a:xfrm>
          <a:prstGeom prst="rect">
            <a:avLst/>
          </a:prstGeom>
          <a:noFill/>
          <a:ln/>
        </p:spPr>
        <p:txBody>
          <a:bodyPr wrap="square" lIns="0" tIns="0" rIns="0" bIns="0" rtlCol="0" anchor="ctr"/>
          <a:lstStyle/>
          <a:p>
            <a:pPr marL="0" indent="0">
              <a:buNone/>
            </a:pPr>
            <a:r>
              <a:rPr lang="en-US" sz="4800" b="1" dirty="0">
                <a:solidFill>
                  <a:srgbClr val="143847"/>
                </a:solidFill>
                <a:latin typeface="Calibri" pitchFamily="34" charset="0"/>
                <a:ea typeface="Calibri" pitchFamily="34" charset="-122"/>
                <a:cs typeface="Calibri" pitchFamily="34" charset="-120"/>
              </a:rPr>
              <a:t>Form of Explanation</a:t>
            </a:r>
            <a:endParaRPr lang="en-US" sz="4800" dirty="0"/>
          </a:p>
        </p:txBody>
      </p:sp>
      <p:sp>
        <p:nvSpPr>
          <p:cNvPr id="11" name="Text 9"/>
          <p:cNvSpPr/>
          <p:nvPr/>
        </p:nvSpPr>
        <p:spPr>
          <a:xfrm>
            <a:off x="548640" y="2743200"/>
            <a:ext cx="11094415" cy="502920"/>
          </a:xfrm>
          <a:prstGeom prst="rect">
            <a:avLst/>
          </a:prstGeom>
          <a:noFill/>
          <a:ln/>
        </p:spPr>
        <p:txBody>
          <a:bodyPr wrap="square" lIns="0" tIns="0" rIns="0" bIns="0" rtlCol="0" anchor="ctr"/>
          <a:lstStyle/>
          <a:p>
            <a:pPr marL="0" indent="0">
              <a:buNone/>
            </a:pPr>
            <a:r>
              <a:rPr lang="en-US" sz="2200" dirty="0">
                <a:solidFill>
                  <a:srgbClr val="1A1A1A"/>
                </a:solidFill>
                <a:latin typeface="Calibri" pitchFamily="34" charset="0"/>
                <a:ea typeface="Calibri" pitchFamily="34" charset="-122"/>
                <a:cs typeface="Calibri" pitchFamily="34" charset="-120"/>
              </a:rPr>
              <a:t>Explainability vs. Explicability under Multitasking Load</a:t>
            </a:r>
            <a:endParaRPr lang="en-US" sz="2200" dirty="0"/>
          </a:p>
        </p:txBody>
      </p:sp>
      <p:sp>
        <p:nvSpPr>
          <p:cNvPr id="12" name="Shape 10"/>
          <p:cNvSpPr/>
          <p:nvPr/>
        </p:nvSpPr>
        <p:spPr>
          <a:xfrm>
            <a:off x="548640" y="3383280"/>
            <a:ext cx="2194560" cy="0"/>
          </a:xfrm>
          <a:prstGeom prst="line">
            <a:avLst/>
          </a:prstGeom>
          <a:noFill/>
          <a:ln w="25400">
            <a:solidFill>
              <a:srgbClr val="143847"/>
            </a:solidFill>
            <a:prstDash val="solid"/>
          </a:ln>
        </p:spPr>
      </p:sp>
      <p:sp>
        <p:nvSpPr>
          <p:cNvPr id="13" name="Text 11"/>
          <p:cNvSpPr/>
          <p:nvPr/>
        </p:nvSpPr>
        <p:spPr>
          <a:xfrm>
            <a:off x="548640" y="3566160"/>
            <a:ext cx="11094415" cy="1005840"/>
          </a:xfrm>
          <a:prstGeom prst="rect">
            <a:avLst/>
          </a:prstGeom>
          <a:noFill/>
          <a:ln/>
        </p:spPr>
        <p:txBody>
          <a:bodyPr wrap="square" lIns="0" tIns="0" rIns="0" bIns="0" rtlCol="0" anchor="ctr"/>
          <a:lstStyle/>
          <a:p>
            <a:pPr marL="0" indent="0">
              <a:buNone/>
            </a:pPr>
            <a:r>
              <a:rPr lang="en-US" sz="1600" i="1" dirty="0">
                <a:solidFill>
                  <a:srgbClr val="1A1A1A"/>
                </a:solidFill>
                <a:latin typeface="Calibri" pitchFamily="34" charset="0"/>
                <a:ea typeface="Calibri" pitchFamily="34" charset="-122"/>
                <a:cs typeface="Calibri" pitchFamily="34" charset="-120"/>
              </a:rPr>
              <a:t>Does the form of an automation aid's reasoning explanation — holding action-relevant information constant — change subjective transparency </a:t>
            </a:r>
            <a:r>
              <a:rPr lang="en-US" sz="1600" dirty="0">
                <a:solidFill>
                  <a:srgbClr val="1A1A1A"/>
                </a:solidFill>
                <a:latin typeface="Calibri" pitchFamily="34" charset="0"/>
                <a:ea typeface="Calibri" pitchFamily="34" charset="-122"/>
                <a:cs typeface="Calibri" pitchFamily="34" charset="-120"/>
              </a:rPr>
              <a:t>and </a:t>
            </a:r>
            <a:r>
              <a:rPr lang="en-US" sz="1600" i="1" dirty="0">
                <a:solidFill>
                  <a:srgbClr val="1A1A1A"/>
                </a:solidFill>
                <a:latin typeface="Calibri" pitchFamily="34" charset="0"/>
                <a:ea typeface="Calibri" pitchFamily="34" charset="-122"/>
                <a:cs typeface="Calibri" pitchFamily="34" charset="-120"/>
              </a:rPr>
              <a:t>whether the operator's mental model actually updates under multitasking load?</a:t>
            </a:r>
            <a:endParaRPr lang="en-US" sz="1600" dirty="0"/>
          </a:p>
        </p:txBody>
      </p:sp>
      <p:sp>
        <p:nvSpPr>
          <p:cNvPr id="14" name="Text 12"/>
          <p:cNvSpPr/>
          <p:nvPr/>
        </p:nvSpPr>
        <p:spPr>
          <a:xfrm>
            <a:off x="548640" y="5212080"/>
            <a:ext cx="73152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Group Z</a:t>
            </a:r>
            <a:endParaRPr lang="en-US" sz="1400" dirty="0"/>
          </a:p>
        </p:txBody>
      </p:sp>
      <p:sp>
        <p:nvSpPr>
          <p:cNvPr id="15" name="Text 13"/>
          <p:cNvSpPr/>
          <p:nvPr/>
        </p:nvSpPr>
        <p:spPr>
          <a:xfrm>
            <a:off x="548640" y="5532120"/>
            <a:ext cx="7315200" cy="2743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Lilian Obidike  ·  Sheethal Mohan Prabhu  ·  Andrea Thelen</a:t>
            </a:r>
            <a:endParaRPr lang="en-US" sz="1300" dirty="0"/>
          </a:p>
        </p:txBody>
      </p:sp>
      <p:sp>
        <p:nvSpPr>
          <p:cNvPr id="16" name="Text 14"/>
          <p:cNvSpPr/>
          <p:nvPr/>
        </p:nvSpPr>
        <p:spPr>
          <a:xfrm>
            <a:off x="548640" y="5806440"/>
            <a:ext cx="8229600" cy="274320"/>
          </a:xfrm>
          <a:prstGeom prst="rect">
            <a:avLst/>
          </a:prstGeom>
          <a:noFill/>
          <a:ln/>
        </p:spPr>
        <p:txBody>
          <a:bodyPr wrap="square" lIns="0" tIns="0" rIns="0" bIns="0" rtlCol="0" anchor="ctr"/>
          <a:lstStyle/>
          <a:p>
            <a:pPr marL="0" indent="0">
              <a:buNone/>
            </a:pPr>
            <a:r>
              <a:rPr lang="en-US" sz="1200" i="1" dirty="0">
                <a:solidFill>
                  <a:srgbClr val="5A6770"/>
                </a:solidFill>
                <a:latin typeface="Calibri" pitchFamily="34" charset="0"/>
                <a:ea typeface="Calibri" pitchFamily="34" charset="-122"/>
                <a:cs typeface="Calibri" pitchFamily="34" charset="-120"/>
              </a:rPr>
              <a:t>Universität zu Lübeck  ·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2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Problem &amp; Relevance</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Two systems can be equally transparent — yet only one updates the operator's mental model.</a:t>
            </a:r>
            <a:endParaRPr lang="en-US" sz="1300" dirty="0"/>
          </a:p>
        </p:txBody>
      </p:sp>
      <p:sp>
        <p:nvSpPr>
          <p:cNvPr id="13" name="Text 11"/>
          <p:cNvSpPr/>
          <p:nvPr/>
        </p:nvSpPr>
        <p:spPr>
          <a:xfrm>
            <a:off x="411480" y="1874520"/>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Problem</a:t>
            </a:r>
            <a:endParaRPr lang="en-US" sz="1400" dirty="0"/>
          </a:p>
        </p:txBody>
      </p:sp>
      <p:sp>
        <p:nvSpPr>
          <p:cNvPr id="14" name="Text 12"/>
          <p:cNvSpPr/>
          <p:nvPr/>
        </p:nvSpPr>
        <p:spPr>
          <a:xfrm>
            <a:off x="411480" y="2240279"/>
            <a:ext cx="5486400" cy="2067951"/>
          </a:xfrm>
          <a:prstGeom prst="rect">
            <a:avLst/>
          </a:prstGeom>
          <a:noFill/>
          <a:ln/>
        </p:spPr>
        <p:txBody>
          <a:bodyPr wrap="square" lIns="0" tIns="0" rIns="0" bIns="0" rtlCol="0" anchor="t"/>
          <a:lstStyle/>
          <a:p>
            <a:pPr marL="0" indent="0">
              <a:spcAft>
                <a:spcPts val="400"/>
              </a:spcAft>
              <a:buNone/>
            </a:pPr>
            <a:r>
              <a:rPr lang="en-US" sz="1300" dirty="0">
                <a:solidFill>
                  <a:srgbClr val="1A1A1A"/>
                </a:solidFill>
                <a:ea typeface="Calibri" pitchFamily="34" charset="-122"/>
                <a:cs typeface="Calibri" pitchFamily="34" charset="-120"/>
              </a:rPr>
              <a:t>When an AI system explains itself, three things come together: </a:t>
            </a:r>
          </a:p>
          <a:p>
            <a:pPr marL="285750" indent="-285750">
              <a:spcAft>
                <a:spcPts val="400"/>
              </a:spcAft>
              <a:buFont typeface="Arial" panose="020B0604020202020204" pitchFamily="34" charset="0"/>
              <a:buChar char="•"/>
            </a:pPr>
            <a:r>
              <a:rPr lang="en-US" sz="1300" b="1" dirty="0">
                <a:solidFill>
                  <a:srgbClr val="143847"/>
                </a:solidFill>
                <a:ea typeface="Calibri" pitchFamily="34" charset="-122"/>
                <a:cs typeface="Calibri" pitchFamily="34" charset="-120"/>
              </a:rPr>
              <a:t>Transparency</a:t>
            </a:r>
            <a:r>
              <a:rPr lang="en-US" sz="1300" dirty="0">
                <a:solidFill>
                  <a:srgbClr val="1A1A1A"/>
                </a:solidFill>
                <a:ea typeface="Calibri" pitchFamily="34" charset="-122"/>
                <a:cs typeface="Calibri" pitchFamily="34" charset="-120"/>
              </a:rPr>
              <a:t> gives the operator insight into the system’s inner workings</a:t>
            </a:r>
          </a:p>
          <a:p>
            <a:pPr marL="285750" indent="-285750">
              <a:spcAft>
                <a:spcPts val="400"/>
              </a:spcAft>
              <a:buFont typeface="Arial" panose="020B0604020202020204" pitchFamily="34" charset="0"/>
              <a:buChar char="•"/>
            </a:pPr>
            <a:r>
              <a:rPr lang="en-US" sz="1300" b="1" dirty="0">
                <a:solidFill>
                  <a:srgbClr val="143847"/>
                </a:solidFill>
                <a:ea typeface="Calibri" pitchFamily="34" charset="-122"/>
                <a:cs typeface="Calibri" pitchFamily="34" charset="-120"/>
              </a:rPr>
              <a:t>Explainability</a:t>
            </a:r>
            <a:r>
              <a:rPr lang="en-US" sz="1300" b="1" dirty="0">
                <a:solidFill>
                  <a:srgbClr val="1A1A1A"/>
                </a:solidFill>
                <a:ea typeface="Calibri" pitchFamily="34" charset="-122"/>
                <a:cs typeface="Calibri" pitchFamily="34" charset="-120"/>
              </a:rPr>
              <a:t> </a:t>
            </a:r>
            <a:r>
              <a:rPr lang="en-US" sz="1300" dirty="0">
                <a:solidFill>
                  <a:srgbClr val="1A1A1A"/>
                </a:solidFill>
                <a:ea typeface="Calibri" pitchFamily="34" charset="-122"/>
                <a:cs typeface="Calibri" pitchFamily="34" charset="-120"/>
              </a:rPr>
              <a:t>is the system's act of producing an explanation of what it did and how</a:t>
            </a:r>
          </a:p>
          <a:p>
            <a:pPr marL="285750" indent="-285750">
              <a:spcAft>
                <a:spcPts val="400"/>
              </a:spcAft>
              <a:buFont typeface="Arial" panose="020B0604020202020204" pitchFamily="34" charset="0"/>
              <a:buChar char="•"/>
            </a:pPr>
            <a:r>
              <a:rPr lang="en-US" sz="1300" b="1" dirty="0">
                <a:solidFill>
                  <a:srgbClr val="143847"/>
                </a:solidFill>
                <a:ea typeface="Calibri" pitchFamily="34" charset="-122"/>
                <a:cs typeface="Calibri" pitchFamily="34" charset="-120"/>
              </a:rPr>
              <a:t>Explicability</a:t>
            </a:r>
            <a:r>
              <a:rPr lang="en-US" sz="1300" dirty="0">
                <a:solidFill>
                  <a:srgbClr val="1A1A1A"/>
                </a:solidFill>
                <a:ea typeface="Calibri" pitchFamily="34" charset="-122"/>
                <a:cs typeface="Calibri" pitchFamily="34" charset="-120"/>
              </a:rPr>
              <a:t> is whether that explanation is presented in a way that it is actually understood and processed by the operator.</a:t>
            </a:r>
          </a:p>
          <a:p>
            <a:pPr>
              <a:spcAft>
                <a:spcPts val="400"/>
              </a:spcAft>
            </a:pPr>
            <a:r>
              <a:rPr lang="en-US" sz="1400" b="0" i="0" dirty="0">
                <a:solidFill>
                  <a:srgbClr val="3B3B3B"/>
                </a:solidFill>
                <a:effectLst/>
              </a:rPr>
              <a:t>We want to focus on the effects of different </a:t>
            </a:r>
            <a:r>
              <a:rPr lang="en-US" sz="1300" b="1" dirty="0">
                <a:solidFill>
                  <a:srgbClr val="143847"/>
                </a:solidFill>
                <a:ea typeface="Calibri" pitchFamily="34" charset="-122"/>
                <a:cs typeface="Calibri" pitchFamily="34" charset="-120"/>
              </a:rPr>
              <a:t>forms of an explanation </a:t>
            </a:r>
            <a:r>
              <a:rPr lang="en-US" sz="1400" b="0" i="0" dirty="0">
                <a:solidFill>
                  <a:srgbClr val="3B3B3B"/>
                </a:solidFill>
                <a:effectLst/>
              </a:rPr>
              <a:t>while holding the </a:t>
            </a:r>
            <a:r>
              <a:rPr lang="en-US" sz="1400" dirty="0">
                <a:solidFill>
                  <a:srgbClr val="3B3B3B"/>
                </a:solidFill>
              </a:rPr>
              <a:t>action</a:t>
            </a:r>
            <a:r>
              <a:rPr lang="en-US" sz="1400" b="0" i="0" dirty="0">
                <a:solidFill>
                  <a:srgbClr val="3B3B3B"/>
                </a:solidFill>
                <a:effectLst/>
              </a:rPr>
              <a:t>-relevant information constant. </a:t>
            </a:r>
            <a:endParaRPr lang="en-US" sz="1300" dirty="0">
              <a:solidFill>
                <a:srgbClr val="1A1A1A"/>
              </a:solidFill>
              <a:ea typeface="Calibri" pitchFamily="34" charset="-122"/>
              <a:cs typeface="Calibri" pitchFamily="34" charset="-120"/>
            </a:endParaRPr>
          </a:p>
        </p:txBody>
      </p:sp>
      <p:sp>
        <p:nvSpPr>
          <p:cNvPr id="15" name="Shape 13"/>
          <p:cNvSpPr/>
          <p:nvPr/>
        </p:nvSpPr>
        <p:spPr>
          <a:xfrm>
            <a:off x="6080760" y="1874519"/>
            <a:ext cx="15240" cy="4315251"/>
          </a:xfrm>
          <a:prstGeom prst="line">
            <a:avLst/>
          </a:prstGeom>
          <a:noFill/>
          <a:ln w="9525">
            <a:solidFill>
              <a:srgbClr val="C9D2D9"/>
            </a:solidFill>
            <a:prstDash val="solid"/>
          </a:ln>
        </p:spPr>
      </p:sp>
      <p:sp>
        <p:nvSpPr>
          <p:cNvPr id="16" name="Text 14"/>
          <p:cNvSpPr/>
          <p:nvPr/>
        </p:nvSpPr>
        <p:spPr>
          <a:xfrm>
            <a:off x="6278880" y="1929383"/>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Why it is relevant</a:t>
            </a:r>
            <a:endParaRPr lang="en-US" sz="1400" dirty="0"/>
          </a:p>
        </p:txBody>
      </p:sp>
      <p:sp>
        <p:nvSpPr>
          <p:cNvPr id="17" name="Text 15"/>
          <p:cNvSpPr/>
          <p:nvPr/>
        </p:nvSpPr>
        <p:spPr>
          <a:xfrm>
            <a:off x="6309360" y="4348756"/>
            <a:ext cx="5486400" cy="2109691"/>
          </a:xfrm>
          <a:prstGeom prst="rect">
            <a:avLst/>
          </a:prstGeom>
          <a:noFill/>
          <a:ln/>
        </p:spPr>
        <p:txBody>
          <a:bodyPr wrap="square" lIns="0" tIns="0" rIns="0" bIns="0" rtlCol="0" anchor="t"/>
          <a:lstStyle/>
          <a:p>
            <a:pPr algn="l"/>
            <a:r>
              <a:rPr lang="en-US" sz="1300" b="0" i="0" dirty="0">
                <a:solidFill>
                  <a:srgbClr val="3B3B3B"/>
                </a:solidFill>
                <a:effectLst/>
              </a:rPr>
              <a:t>Transparency studies (Mercado 2016, Stowers 2017) vary the </a:t>
            </a:r>
            <a:r>
              <a:rPr lang="en-US" sz="1300" b="0" i="1" dirty="0">
                <a:solidFill>
                  <a:srgbClr val="3B3B3B"/>
                </a:solidFill>
                <a:effectLst/>
              </a:rPr>
              <a:t>level</a:t>
            </a:r>
            <a:r>
              <a:rPr lang="en-US" sz="1300" b="0" i="0" dirty="0">
                <a:solidFill>
                  <a:srgbClr val="3B3B3B"/>
                </a:solidFill>
                <a:effectLst/>
              </a:rPr>
              <a:t> of information but do not distinguish information </a:t>
            </a:r>
            <a:r>
              <a:rPr lang="en-US" sz="1300" b="1" dirty="0">
                <a:solidFill>
                  <a:srgbClr val="143847"/>
                </a:solidFill>
                <a:latin typeface="Calibri" pitchFamily="34" charset="0"/>
                <a:ea typeface="Calibri" pitchFamily="34" charset="-122"/>
                <a:cs typeface="Calibri" pitchFamily="34" charset="-120"/>
              </a:rPr>
              <a:t>content</a:t>
            </a:r>
            <a:r>
              <a:rPr lang="en-US" sz="1300" b="0" i="0" dirty="0">
                <a:solidFill>
                  <a:srgbClr val="3B3B3B"/>
                </a:solidFill>
                <a:effectLst/>
              </a:rPr>
              <a:t> and </a:t>
            </a:r>
            <a:r>
              <a:rPr lang="en-US" sz="1300" b="1" dirty="0">
                <a:solidFill>
                  <a:srgbClr val="143847"/>
                </a:solidFill>
                <a:latin typeface="Calibri" pitchFamily="34" charset="0"/>
                <a:ea typeface="Calibri" pitchFamily="34" charset="-122"/>
                <a:cs typeface="Calibri" pitchFamily="34" charset="-120"/>
              </a:rPr>
              <a:t>presentation</a:t>
            </a:r>
            <a:r>
              <a:rPr lang="en-US" sz="1300" b="0" i="0" dirty="0">
                <a:solidFill>
                  <a:srgbClr val="3B3B3B"/>
                </a:solidFill>
                <a:effectLst/>
              </a:rPr>
              <a:t>. Our design holds action-relevant content and varies </a:t>
            </a:r>
            <a:r>
              <a:rPr lang="en-US" sz="1300" b="1" dirty="0">
                <a:solidFill>
                  <a:srgbClr val="143847"/>
                </a:solidFill>
                <a:latin typeface="Calibri" pitchFamily="34" charset="0"/>
                <a:ea typeface="Calibri" pitchFamily="34" charset="-122"/>
                <a:cs typeface="Calibri" pitchFamily="34" charset="-120"/>
              </a:rPr>
              <a:t>only the form</a:t>
            </a:r>
            <a:r>
              <a:rPr lang="en-US" sz="1300" b="0" i="0" dirty="0">
                <a:solidFill>
                  <a:srgbClr val="3B3B3B"/>
                </a:solidFill>
                <a:effectLst/>
              </a:rPr>
              <a:t>, which isolates the presentation aspect.</a:t>
            </a:r>
          </a:p>
          <a:p>
            <a:pPr algn="l"/>
            <a:endParaRPr lang="en-US" sz="1300" dirty="0">
              <a:solidFill>
                <a:srgbClr val="3B3B3B"/>
              </a:solidFill>
            </a:endParaRPr>
          </a:p>
          <a:p>
            <a:pPr algn="l"/>
            <a:r>
              <a:rPr lang="en-US" sz="1300" dirty="0">
                <a:solidFill>
                  <a:srgbClr val="3B3B3B"/>
                </a:solidFill>
              </a:rPr>
              <a:t>The XAI literature shows that explanations can raise agreement and the feeling of being informed without improving the user's ability to catch AI mistakes (Bansal 2021), and that subjective understanding often rises without objective understanding (Wang &amp; Yin 2021) — but these results come from single-task settings. </a:t>
            </a:r>
            <a:r>
              <a:rPr lang="en-US" sz="1300" b="0" i="0" dirty="0">
                <a:solidFill>
                  <a:srgbClr val="3B3B3B"/>
                </a:solidFill>
                <a:effectLst/>
              </a:rPr>
              <a:t>We test the same dissociation under </a:t>
            </a:r>
            <a:r>
              <a:rPr lang="en-US" sz="1300" b="1" dirty="0">
                <a:solidFill>
                  <a:srgbClr val="143847"/>
                </a:solidFill>
                <a:latin typeface="Calibri" pitchFamily="34" charset="0"/>
                <a:ea typeface="Calibri" pitchFamily="34" charset="-122"/>
                <a:cs typeface="Calibri" pitchFamily="34" charset="-120"/>
              </a:rPr>
              <a:t>multitasking load</a:t>
            </a:r>
            <a:r>
              <a:rPr lang="en-US" sz="1300" b="0" i="0" dirty="0">
                <a:solidFill>
                  <a:srgbClr val="3B3B3B"/>
                </a:solidFill>
                <a:effectLst/>
              </a:rPr>
              <a:t>.</a:t>
            </a:r>
          </a:p>
          <a:p>
            <a:br>
              <a:rPr lang="en-US" sz="1300" dirty="0"/>
            </a:br>
            <a:r>
              <a:rPr lang="en-US" sz="600" dirty="0">
                <a:solidFill>
                  <a:srgbClr val="1A1A1A"/>
                </a:solidFill>
                <a:ea typeface="Calibri" pitchFamily="34" charset="-122"/>
                <a:cs typeface="Calibri" pitchFamily="34" charset="-120"/>
              </a:rPr>
              <a:t> </a:t>
            </a:r>
            <a:endParaRPr lang="en-US" sz="1300" dirty="0"/>
          </a:p>
        </p:txBody>
      </p:sp>
      <p:sp>
        <p:nvSpPr>
          <p:cNvPr id="18" name="Text 11">
            <a:extLst>
              <a:ext uri="{FF2B5EF4-FFF2-40B4-BE49-F238E27FC236}">
                <a16:creationId xmlns:a16="http://schemas.microsoft.com/office/drawing/2014/main" id="{63DA7977-11F1-D627-5998-16F138B908DE}"/>
              </a:ext>
            </a:extLst>
          </p:cNvPr>
          <p:cNvSpPr/>
          <p:nvPr/>
        </p:nvSpPr>
        <p:spPr>
          <a:xfrm>
            <a:off x="411480" y="4479856"/>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Relation to the lecture content</a:t>
            </a:r>
            <a:endParaRPr lang="en-US" sz="1400" dirty="0"/>
          </a:p>
        </p:txBody>
      </p:sp>
      <p:sp>
        <p:nvSpPr>
          <p:cNvPr id="20" name="Text 12">
            <a:extLst>
              <a:ext uri="{FF2B5EF4-FFF2-40B4-BE49-F238E27FC236}">
                <a16:creationId xmlns:a16="http://schemas.microsoft.com/office/drawing/2014/main" id="{D8369497-5F6A-ECFB-7F41-B1DAB0A100EC}"/>
              </a:ext>
            </a:extLst>
          </p:cNvPr>
          <p:cNvSpPr/>
          <p:nvPr/>
        </p:nvSpPr>
        <p:spPr>
          <a:xfrm>
            <a:off x="411480" y="4809508"/>
            <a:ext cx="5486400" cy="1606238"/>
          </a:xfrm>
          <a:prstGeom prst="rect">
            <a:avLst/>
          </a:prstGeom>
          <a:noFill/>
          <a:ln/>
        </p:spPr>
        <p:txBody>
          <a:bodyPr wrap="square" lIns="0" tIns="0" rIns="0" bIns="0" rtlCol="0" anchor="t"/>
          <a:lstStyle/>
          <a:p>
            <a:pPr marL="0" indent="0">
              <a:spcAft>
                <a:spcPts val="400"/>
              </a:spcAft>
              <a:buNone/>
            </a:pPr>
            <a:r>
              <a:rPr lang="en-US" sz="1300" b="0" i="0" dirty="0">
                <a:solidFill>
                  <a:srgbClr val="3B3B3B"/>
                </a:solidFill>
                <a:effectLst/>
                <a:latin typeface="-apple-system"/>
              </a:rPr>
              <a:t>The project is anchored in two lectures: </a:t>
            </a:r>
          </a:p>
          <a:p>
            <a:pPr marL="285750" indent="-285750">
              <a:spcAft>
                <a:spcPts val="400"/>
              </a:spcAft>
              <a:buFont typeface="Arial" panose="020B0604020202020204" pitchFamily="34" charset="0"/>
              <a:buChar char="•"/>
            </a:pPr>
            <a:r>
              <a:rPr lang="en-US" sz="1300" b="1" dirty="0">
                <a:solidFill>
                  <a:srgbClr val="143847"/>
                </a:solidFill>
                <a:latin typeface="Calibri" pitchFamily="34" charset="0"/>
                <a:ea typeface="Calibri" pitchFamily="34" charset="-122"/>
                <a:cs typeface="Calibri" pitchFamily="34" charset="-120"/>
              </a:rPr>
              <a:t>Transparency</a:t>
            </a:r>
            <a:r>
              <a:rPr lang="en-US" sz="1300" dirty="0">
                <a:solidFill>
                  <a:srgbClr val="3B3B3B"/>
                </a:solidFill>
                <a:latin typeface="-apple-system"/>
              </a:rPr>
              <a:t>: </a:t>
            </a:r>
            <a:r>
              <a:rPr lang="en-US" sz="1300" b="0" i="0" dirty="0">
                <a:solidFill>
                  <a:srgbClr val="3B3B3B"/>
                </a:solidFill>
                <a:effectLst/>
                <a:latin typeface="-apple-system"/>
              </a:rPr>
              <a:t>The question of what level of information the aid should communicate, Three-Gap-Model</a:t>
            </a:r>
          </a:p>
          <a:p>
            <a:pPr marL="285750" indent="-285750">
              <a:spcAft>
                <a:spcPts val="400"/>
              </a:spcAft>
              <a:buFont typeface="Arial" panose="020B0604020202020204" pitchFamily="34" charset="0"/>
              <a:buChar char="•"/>
            </a:pPr>
            <a:r>
              <a:rPr lang="en-US" sz="1300" b="1" dirty="0">
                <a:solidFill>
                  <a:srgbClr val="143847"/>
                </a:solidFill>
                <a:latin typeface="Calibri" pitchFamily="34" charset="0"/>
                <a:ea typeface="Calibri" pitchFamily="34" charset="-122"/>
                <a:cs typeface="Calibri" pitchFamily="34" charset="-120"/>
              </a:rPr>
              <a:t>Explainability &amp; Explicability</a:t>
            </a:r>
            <a:r>
              <a:rPr lang="en-US" sz="1300" dirty="0">
                <a:solidFill>
                  <a:srgbClr val="3B3B3B"/>
                </a:solidFill>
                <a:latin typeface="-apple-system"/>
              </a:rPr>
              <a:t>: </a:t>
            </a:r>
            <a:r>
              <a:rPr lang="en-US" sz="1300" b="0" i="0" dirty="0">
                <a:solidFill>
                  <a:srgbClr val="3B3B3B"/>
                </a:solidFill>
                <a:effectLst/>
                <a:latin typeface="-apple-system"/>
              </a:rPr>
              <a:t>Criteria for good explanations, among others </a:t>
            </a:r>
            <a:r>
              <a:rPr lang="de-DE" sz="1300" b="0" i="0" dirty="0" err="1">
                <a:solidFill>
                  <a:srgbClr val="3B3B3B"/>
                </a:solidFill>
                <a:effectLst/>
                <a:latin typeface="-apple-system"/>
              </a:rPr>
              <a:t>selectivity</a:t>
            </a:r>
            <a:r>
              <a:rPr lang="de-DE" sz="1300" b="0" i="0" dirty="0">
                <a:solidFill>
                  <a:srgbClr val="3B3B3B"/>
                </a:solidFill>
                <a:effectLst/>
                <a:latin typeface="-apple-system"/>
              </a:rPr>
              <a:t>, </a:t>
            </a:r>
            <a:r>
              <a:rPr lang="de-DE" sz="1300" b="0" i="0" dirty="0" err="1">
                <a:solidFill>
                  <a:srgbClr val="3B3B3B"/>
                </a:solidFill>
                <a:effectLst/>
                <a:latin typeface="-apple-system"/>
              </a:rPr>
              <a:t>contrastiveness</a:t>
            </a:r>
            <a:r>
              <a:rPr lang="de-DE" sz="1300" dirty="0">
                <a:solidFill>
                  <a:srgbClr val="3B3B3B"/>
                </a:solidFill>
                <a:latin typeface="-apple-system"/>
              </a:rPr>
              <a:t> and </a:t>
            </a:r>
            <a:r>
              <a:rPr lang="de-DE" sz="1300" b="0" i="0" dirty="0" err="1">
                <a:solidFill>
                  <a:srgbClr val="3B3B3B"/>
                </a:solidFill>
                <a:effectLst/>
                <a:latin typeface="-apple-system"/>
              </a:rPr>
              <a:t>actionability</a:t>
            </a:r>
            <a:r>
              <a:rPr lang="en-US" sz="1300" dirty="0">
                <a:solidFill>
                  <a:srgbClr val="3B3B3B"/>
                </a:solidFill>
                <a:latin typeface="-apple-system"/>
              </a:rPr>
              <a:t>.</a:t>
            </a:r>
            <a:endParaRPr lang="en-US" sz="1300" dirty="0">
              <a:solidFill>
                <a:srgbClr val="1A1A1A"/>
              </a:solidFill>
              <a:ea typeface="Calibri" pitchFamily="34" charset="-122"/>
              <a:cs typeface="Calibri" pitchFamily="34" charset="-120"/>
            </a:endParaRPr>
          </a:p>
        </p:txBody>
      </p:sp>
      <p:sp>
        <p:nvSpPr>
          <p:cNvPr id="21" name="Text 14">
            <a:extLst>
              <a:ext uri="{FF2B5EF4-FFF2-40B4-BE49-F238E27FC236}">
                <a16:creationId xmlns:a16="http://schemas.microsoft.com/office/drawing/2014/main" id="{7AC0B3D1-626A-52D3-F751-9B2913BC0B89}"/>
              </a:ext>
            </a:extLst>
          </p:cNvPr>
          <p:cNvSpPr/>
          <p:nvPr/>
        </p:nvSpPr>
        <p:spPr>
          <a:xfrm>
            <a:off x="6309360" y="3994858"/>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Research Gap</a:t>
            </a:r>
            <a:endParaRPr lang="en-US" sz="1400" dirty="0"/>
          </a:p>
        </p:txBody>
      </p:sp>
      <p:sp>
        <p:nvSpPr>
          <p:cNvPr id="22" name="Text 15">
            <a:extLst>
              <a:ext uri="{FF2B5EF4-FFF2-40B4-BE49-F238E27FC236}">
                <a16:creationId xmlns:a16="http://schemas.microsoft.com/office/drawing/2014/main" id="{8083DEF1-AA3A-8D23-2086-A40348F06C6C}"/>
              </a:ext>
            </a:extLst>
          </p:cNvPr>
          <p:cNvSpPr/>
          <p:nvPr/>
        </p:nvSpPr>
        <p:spPr>
          <a:xfrm>
            <a:off x="6278880" y="2296611"/>
            <a:ext cx="5486400" cy="1531615"/>
          </a:xfrm>
          <a:prstGeom prst="rect">
            <a:avLst/>
          </a:prstGeom>
          <a:noFill/>
          <a:ln/>
        </p:spPr>
        <p:txBody>
          <a:bodyPr wrap="square" lIns="0" tIns="0" rIns="0" bIns="0" rtlCol="0" anchor="t"/>
          <a:lstStyle/>
          <a:p>
            <a:pPr marL="0" indent="0">
              <a:spcAft>
                <a:spcPts val="400"/>
              </a:spcAft>
              <a:buNone/>
            </a:pPr>
            <a:r>
              <a:rPr lang="en-US" sz="1300" dirty="0">
                <a:solidFill>
                  <a:srgbClr val="1A1A1A"/>
                </a:solidFill>
                <a:ea typeface="Calibri" pitchFamily="34" charset="-122"/>
                <a:cs typeface="Calibri" pitchFamily="34" charset="-120"/>
              </a:rPr>
              <a:t>This topic matters wherever a human supervises an automated system — </a:t>
            </a:r>
            <a:r>
              <a:rPr lang="en-US" sz="1300" b="1" dirty="0">
                <a:solidFill>
                  <a:srgbClr val="143847"/>
                </a:solidFill>
                <a:latin typeface="Calibri" pitchFamily="34" charset="0"/>
                <a:ea typeface="Calibri" pitchFamily="34" charset="-122"/>
                <a:cs typeface="Calibri" pitchFamily="34" charset="-120"/>
              </a:rPr>
              <a:t>aviation, medical monitoring, autonomous driving aids</a:t>
            </a:r>
            <a:r>
              <a:rPr lang="en-US" sz="1300" b="1" dirty="0">
                <a:solidFill>
                  <a:srgbClr val="1A1A1A"/>
                </a:solidFill>
                <a:ea typeface="Calibri" pitchFamily="34" charset="-122"/>
                <a:cs typeface="Calibri" pitchFamily="34" charset="-120"/>
              </a:rPr>
              <a:t>.</a:t>
            </a:r>
            <a:endParaRPr lang="en-US" sz="1300" dirty="0"/>
          </a:p>
          <a:p>
            <a:pPr marL="0" indent="0">
              <a:spcAft>
                <a:spcPts val="400"/>
              </a:spcAft>
              <a:buNone/>
            </a:pPr>
            <a:r>
              <a:rPr lang="en-US" sz="600" dirty="0">
                <a:solidFill>
                  <a:srgbClr val="1A1A1A"/>
                </a:solidFill>
                <a:ea typeface="Calibri" pitchFamily="34" charset="-122"/>
                <a:cs typeface="Calibri" pitchFamily="34" charset="-120"/>
              </a:rPr>
              <a:t> </a:t>
            </a:r>
            <a:endParaRPr lang="en-US" sz="1300" dirty="0"/>
          </a:p>
          <a:p>
            <a:pPr marL="0" indent="0">
              <a:spcAft>
                <a:spcPts val="400"/>
              </a:spcAft>
              <a:buNone/>
            </a:pPr>
            <a:r>
              <a:rPr lang="en-US" sz="1300" dirty="0">
                <a:solidFill>
                  <a:srgbClr val="1A1A1A"/>
                </a:solidFill>
                <a:ea typeface="Calibri" pitchFamily="34" charset="-122"/>
                <a:cs typeface="Calibri" pitchFamily="34" charset="-120"/>
              </a:rPr>
              <a:t>If an explanation is long and reads like a status log, the operator may feel informed without being able to predict the system's next action. This may lead to the human supervisor missing automation errors with </a:t>
            </a:r>
            <a:r>
              <a:rPr lang="de-DE" sz="1300" dirty="0" err="1">
                <a:solidFill>
                  <a:srgbClr val="1A1A1A"/>
                </a:solidFill>
                <a:ea typeface="Calibri" pitchFamily="34" charset="-122"/>
                <a:cs typeface="Calibri" pitchFamily="34" charset="-120"/>
              </a:rPr>
              <a:t>far-reaching</a:t>
            </a:r>
            <a:r>
              <a:rPr lang="de-DE" sz="1300" dirty="0">
                <a:solidFill>
                  <a:srgbClr val="1A1A1A"/>
                </a:solidFill>
                <a:ea typeface="Calibri" pitchFamily="34" charset="-122"/>
                <a:cs typeface="Calibri" pitchFamily="34" charset="-120"/>
              </a:rPr>
              <a:t> </a:t>
            </a:r>
            <a:r>
              <a:rPr lang="de-DE" sz="1300" dirty="0" err="1">
                <a:solidFill>
                  <a:srgbClr val="1A1A1A"/>
                </a:solidFill>
                <a:ea typeface="Calibri" pitchFamily="34" charset="-122"/>
                <a:cs typeface="Calibri" pitchFamily="34" charset="-120"/>
              </a:rPr>
              <a:t>consequences</a:t>
            </a:r>
            <a:r>
              <a:rPr lang="de-DE" sz="1300" dirty="0">
                <a:solidFill>
                  <a:srgbClr val="1A1A1A"/>
                </a:solidFill>
                <a:ea typeface="Calibri" pitchFamily="34" charset="-122"/>
                <a:cs typeface="Calibri" pitchFamily="34" charset="-120"/>
              </a:rPr>
              <a:t>.</a:t>
            </a:r>
            <a:endParaRPr lang="en-US" sz="1300" dirty="0">
              <a:solidFill>
                <a:srgbClr val="1A1A1A"/>
              </a:solidFill>
              <a:ea typeface="Calibri" pitchFamily="34" charset="-122"/>
              <a:cs typeface="Calibri" pitchFamily="34" charset="-120"/>
            </a:endParaRPr>
          </a:p>
          <a:p>
            <a:pPr marL="0" indent="0">
              <a:spcAft>
                <a:spcPts val="400"/>
              </a:spcAft>
              <a:buNone/>
            </a:pPr>
            <a:r>
              <a:rPr lang="en-US" sz="600" dirty="0">
                <a:solidFill>
                  <a:srgbClr val="1A1A1A"/>
                </a:solidFill>
                <a:ea typeface="Calibri" pitchFamily="34" charset="-122"/>
                <a:cs typeface="Calibri" pitchFamily="34" charset="-120"/>
              </a:rPr>
              <a:t>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3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Concept — three forms of explanation</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All three forms communicate the aid's reasoning. The comparison is therefore between forms of explanation, not between explanation and no explanation.</a:t>
            </a:r>
          </a:p>
        </p:txBody>
      </p:sp>
      <p:sp>
        <p:nvSpPr>
          <p:cNvPr id="13" name="Shape 11"/>
          <p:cNvSpPr/>
          <p:nvPr/>
        </p:nvSpPr>
        <p:spPr>
          <a:xfrm>
            <a:off x="411480" y="1920240"/>
            <a:ext cx="3667658" cy="4114800"/>
          </a:xfrm>
          <a:prstGeom prst="rect">
            <a:avLst/>
          </a:prstGeom>
          <a:solidFill>
            <a:srgbClr val="F4F6F8"/>
          </a:solidFill>
          <a:ln w="9525">
            <a:solidFill>
              <a:srgbClr val="C9D2D9"/>
            </a:solidFill>
            <a:prstDash val="solid"/>
          </a:ln>
        </p:spPr>
      </p:sp>
      <p:sp>
        <p:nvSpPr>
          <p:cNvPr id="14" name="Shape 12"/>
          <p:cNvSpPr/>
          <p:nvPr/>
        </p:nvSpPr>
        <p:spPr>
          <a:xfrm>
            <a:off x="411480" y="1920240"/>
            <a:ext cx="3667658" cy="91440"/>
          </a:xfrm>
          <a:prstGeom prst="rect">
            <a:avLst/>
          </a:prstGeom>
          <a:solidFill>
            <a:srgbClr val="143847"/>
          </a:solidFill>
          <a:ln w="12700">
            <a:solidFill>
              <a:srgbClr val="143847"/>
            </a:solidFill>
            <a:prstDash val="solid"/>
          </a:ln>
        </p:spPr>
      </p:sp>
      <p:sp>
        <p:nvSpPr>
          <p:cNvPr id="15" name="Text 13"/>
          <p:cNvSpPr/>
          <p:nvPr/>
        </p:nvSpPr>
        <p:spPr>
          <a:xfrm>
            <a:off x="594360"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F1</a:t>
            </a:r>
            <a:endParaRPr lang="en-US" sz="2200" dirty="0"/>
          </a:p>
        </p:txBody>
      </p:sp>
      <p:sp>
        <p:nvSpPr>
          <p:cNvPr id="16" name="Text 14"/>
          <p:cNvSpPr/>
          <p:nvPr/>
        </p:nvSpPr>
        <p:spPr>
          <a:xfrm>
            <a:off x="594360"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Verbose / always-on</a:t>
            </a:r>
            <a:endParaRPr lang="en-US" sz="1400" dirty="0"/>
          </a:p>
        </p:txBody>
      </p:sp>
      <p:sp>
        <p:nvSpPr>
          <p:cNvPr id="17" name="Text 15"/>
          <p:cNvSpPr/>
          <p:nvPr/>
        </p:nvSpPr>
        <p:spPr>
          <a:xfrm>
            <a:off x="594360"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Routine status update, every cycle.</a:t>
            </a:r>
            <a:endParaRPr lang="en-US" sz="1100" dirty="0"/>
          </a:p>
        </p:txBody>
      </p:sp>
      <p:sp>
        <p:nvSpPr>
          <p:cNvPr id="18" name="Text 16"/>
          <p:cNvSpPr/>
          <p:nvPr/>
        </p:nvSpPr>
        <p:spPr>
          <a:xfrm>
            <a:off x="594360"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19" name="Shape 17"/>
          <p:cNvSpPr/>
          <p:nvPr/>
        </p:nvSpPr>
        <p:spPr>
          <a:xfrm>
            <a:off x="594360" y="3703320"/>
            <a:ext cx="3301898" cy="1600200"/>
          </a:xfrm>
          <a:prstGeom prst="rect">
            <a:avLst/>
          </a:prstGeom>
          <a:solidFill>
            <a:srgbClr val="FFFFFF"/>
          </a:solidFill>
          <a:ln w="6350">
            <a:solidFill>
              <a:srgbClr val="C9D2D9"/>
            </a:solidFill>
            <a:prstDash val="solid"/>
          </a:ln>
        </p:spPr>
      </p:sp>
      <p:sp>
        <p:nvSpPr>
          <p:cNvPr id="20" name="Text 18"/>
          <p:cNvSpPr/>
          <p:nvPr/>
        </p:nvSpPr>
        <p:spPr>
          <a:xfrm>
            <a:off x="685800" y="3794760"/>
            <a:ext cx="3119018" cy="1490472"/>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"Scale-1: was 47.3 &gt; upper bound 45.0 for 1.0 s - reset to 32.0. Scale-2: 31.5, in range. Scale-3: 29.7, in range. Scale-4: 30.2, in range. Lights: OK.“</a:t>
            </a:r>
            <a:br>
              <a:rPr lang="en-US" sz="1000" dirty="0">
                <a:solidFill>
                  <a:srgbClr val="1A1A1A"/>
                </a:solidFill>
                <a:latin typeface="Consolas" pitchFamily="34" charset="0"/>
                <a:ea typeface="Consolas" pitchFamily="34" charset="-122"/>
                <a:cs typeface="Consolas" pitchFamily="34" charset="-120"/>
              </a:rPr>
            </a:br>
            <a:endParaRPr lang="en-US" sz="1000" dirty="0">
              <a:solidFill>
                <a:srgbClr val="1A1A1A"/>
              </a:solidFill>
              <a:latin typeface="Consolas" pitchFamily="34" charset="0"/>
            </a:endParaRPr>
          </a:p>
          <a:p>
            <a:pPr marL="0" indent="0">
              <a:spcAft>
                <a:spcPts val="300"/>
              </a:spcAft>
              <a:buNone/>
            </a:pPr>
            <a:r>
              <a:rPr lang="en-US" sz="1000" dirty="0">
                <a:solidFill>
                  <a:srgbClr val="1A1A1A"/>
                </a:solidFill>
                <a:latin typeface="Consolas" pitchFamily="34" charset="0"/>
              </a:rPr>
              <a:t>“Scale-1: was 47.0 &gt; upper bound 45.0, auto-aid not engaged. Scale-2: 31.5, in range. Scale-3: 29.7, in range. Scale-4: 30.2, in range. Lights: OK.”</a:t>
            </a:r>
            <a:endParaRPr lang="en-US" sz="1000" dirty="0"/>
          </a:p>
        </p:txBody>
      </p:sp>
      <p:sp>
        <p:nvSpPr>
          <p:cNvPr id="21" name="Text 19"/>
          <p:cNvSpPr/>
          <p:nvPr/>
        </p:nvSpPr>
        <p:spPr>
          <a:xfrm>
            <a:off x="594360" y="5372101"/>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Embeds every fact in routine update — fires on every automation cycle.</a:t>
            </a:r>
            <a:endParaRPr lang="en-US" sz="1100" dirty="0"/>
          </a:p>
        </p:txBody>
      </p:sp>
      <p:sp>
        <p:nvSpPr>
          <p:cNvPr id="22" name="Shape 20"/>
          <p:cNvSpPr/>
          <p:nvPr/>
        </p:nvSpPr>
        <p:spPr>
          <a:xfrm>
            <a:off x="4262018" y="1920240"/>
            <a:ext cx="3667658" cy="4114800"/>
          </a:xfrm>
          <a:prstGeom prst="rect">
            <a:avLst/>
          </a:prstGeom>
          <a:solidFill>
            <a:srgbClr val="F4F6F8"/>
          </a:solidFill>
          <a:ln w="9525">
            <a:solidFill>
              <a:srgbClr val="C9D2D9"/>
            </a:solidFill>
            <a:prstDash val="solid"/>
          </a:ln>
        </p:spPr>
      </p:sp>
      <p:sp>
        <p:nvSpPr>
          <p:cNvPr id="23" name="Shape 21"/>
          <p:cNvSpPr/>
          <p:nvPr/>
        </p:nvSpPr>
        <p:spPr>
          <a:xfrm>
            <a:off x="4262018" y="1920240"/>
            <a:ext cx="3667658" cy="91440"/>
          </a:xfrm>
          <a:prstGeom prst="rect">
            <a:avLst/>
          </a:prstGeom>
          <a:solidFill>
            <a:srgbClr val="143847"/>
          </a:solidFill>
          <a:ln w="12700">
            <a:solidFill>
              <a:srgbClr val="143847"/>
            </a:solidFill>
            <a:prstDash val="solid"/>
          </a:ln>
        </p:spPr>
      </p:sp>
      <p:sp>
        <p:nvSpPr>
          <p:cNvPr id="24" name="Text 22"/>
          <p:cNvSpPr/>
          <p:nvPr/>
        </p:nvSpPr>
        <p:spPr>
          <a:xfrm>
            <a:off x="4444898"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F2</a:t>
            </a:r>
            <a:endParaRPr lang="en-US" sz="2200" dirty="0"/>
          </a:p>
        </p:txBody>
      </p:sp>
      <p:sp>
        <p:nvSpPr>
          <p:cNvPr id="25" name="Text 23"/>
          <p:cNvSpPr/>
          <p:nvPr/>
        </p:nvSpPr>
        <p:spPr>
          <a:xfrm>
            <a:off x="4444898"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Selective + contrastive</a:t>
            </a:r>
            <a:endParaRPr lang="en-US" sz="1400" dirty="0"/>
          </a:p>
        </p:txBody>
      </p:sp>
      <p:sp>
        <p:nvSpPr>
          <p:cNvPr id="26" name="Text 24"/>
          <p:cNvSpPr/>
          <p:nvPr/>
        </p:nvSpPr>
        <p:spPr>
          <a:xfrm>
            <a:off x="4444898"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Panel only on near-miss / miss.</a:t>
            </a:r>
            <a:endParaRPr lang="en-US" sz="1100" dirty="0"/>
          </a:p>
        </p:txBody>
      </p:sp>
      <p:sp>
        <p:nvSpPr>
          <p:cNvPr id="27" name="Text 25"/>
          <p:cNvSpPr/>
          <p:nvPr/>
        </p:nvSpPr>
        <p:spPr>
          <a:xfrm>
            <a:off x="4444898"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28" name="Shape 26"/>
          <p:cNvSpPr/>
          <p:nvPr/>
        </p:nvSpPr>
        <p:spPr>
          <a:xfrm>
            <a:off x="4444898" y="3703320"/>
            <a:ext cx="3301898" cy="1581912"/>
          </a:xfrm>
          <a:prstGeom prst="rect">
            <a:avLst/>
          </a:prstGeom>
          <a:solidFill>
            <a:srgbClr val="FFFFFF"/>
          </a:solidFill>
          <a:ln w="6350">
            <a:solidFill>
              <a:srgbClr val="C9D2D9"/>
            </a:solidFill>
            <a:prstDash val="solid"/>
          </a:ln>
        </p:spPr>
      </p:sp>
      <p:sp>
        <p:nvSpPr>
          <p:cNvPr id="29" name="Text 27"/>
          <p:cNvSpPr/>
          <p:nvPr/>
        </p:nvSpPr>
        <p:spPr>
          <a:xfrm>
            <a:off x="4536338" y="3794760"/>
            <a:ext cx="3119018" cy="1280160"/>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"Reset scale-1 - would have failed in ~2.5 s.“</a:t>
            </a:r>
          </a:p>
          <a:p>
            <a:pPr marL="0" indent="0">
              <a:spcAft>
                <a:spcPts val="300"/>
              </a:spcAft>
              <a:buNone/>
            </a:pPr>
            <a:endParaRPr lang="en-US" sz="1000" dirty="0"/>
          </a:p>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endParaRPr lang="en-US" sz="1000" dirty="0"/>
          </a:p>
        </p:txBody>
      </p:sp>
      <p:sp>
        <p:nvSpPr>
          <p:cNvPr id="30" name="Text 28"/>
          <p:cNvSpPr/>
          <p:nvPr/>
        </p:nvSpPr>
        <p:spPr>
          <a:xfrm>
            <a:off x="4444898" y="5372101"/>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Same necessary action-relevant facts as F1, reframed selectively and contrastively.</a:t>
            </a:r>
            <a:endParaRPr lang="en-US" sz="1100" dirty="0"/>
          </a:p>
        </p:txBody>
      </p:sp>
      <p:sp>
        <p:nvSpPr>
          <p:cNvPr id="31" name="Shape 29"/>
          <p:cNvSpPr/>
          <p:nvPr/>
        </p:nvSpPr>
        <p:spPr>
          <a:xfrm>
            <a:off x="8112557" y="1920240"/>
            <a:ext cx="3667658" cy="4114800"/>
          </a:xfrm>
          <a:prstGeom prst="rect">
            <a:avLst/>
          </a:prstGeom>
          <a:solidFill>
            <a:srgbClr val="F4F6F8"/>
          </a:solidFill>
          <a:ln w="9525">
            <a:solidFill>
              <a:srgbClr val="C9D2D9"/>
            </a:solidFill>
            <a:prstDash val="solid"/>
          </a:ln>
        </p:spPr>
      </p:sp>
      <p:sp>
        <p:nvSpPr>
          <p:cNvPr id="32" name="Shape 30"/>
          <p:cNvSpPr/>
          <p:nvPr/>
        </p:nvSpPr>
        <p:spPr>
          <a:xfrm>
            <a:off x="8112557" y="1920240"/>
            <a:ext cx="3667658" cy="91440"/>
          </a:xfrm>
          <a:prstGeom prst="rect">
            <a:avLst/>
          </a:prstGeom>
          <a:solidFill>
            <a:srgbClr val="143847"/>
          </a:solidFill>
          <a:ln w="12700">
            <a:solidFill>
              <a:srgbClr val="143847"/>
            </a:solidFill>
            <a:prstDash val="solid"/>
          </a:ln>
        </p:spPr>
      </p:sp>
      <p:sp>
        <p:nvSpPr>
          <p:cNvPr id="33" name="Text 31"/>
          <p:cNvSpPr/>
          <p:nvPr/>
        </p:nvSpPr>
        <p:spPr>
          <a:xfrm>
            <a:off x="8295437"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F3</a:t>
            </a:r>
            <a:endParaRPr lang="en-US" sz="2200" dirty="0"/>
          </a:p>
        </p:txBody>
      </p:sp>
      <p:sp>
        <p:nvSpPr>
          <p:cNvPr id="34" name="Text 32"/>
          <p:cNvSpPr/>
          <p:nvPr/>
        </p:nvSpPr>
        <p:spPr>
          <a:xfrm>
            <a:off x="8295437"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Selective + contrastive + actionable</a:t>
            </a:r>
            <a:endParaRPr lang="en-US" sz="1400" dirty="0"/>
          </a:p>
        </p:txBody>
      </p:sp>
      <p:sp>
        <p:nvSpPr>
          <p:cNvPr id="35" name="Text 33"/>
          <p:cNvSpPr/>
          <p:nvPr/>
        </p:nvSpPr>
        <p:spPr>
          <a:xfrm>
            <a:off x="8295437"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F2 plus an explicit operator cue on misses.</a:t>
            </a:r>
            <a:endParaRPr lang="en-US" sz="1100" dirty="0"/>
          </a:p>
        </p:txBody>
      </p:sp>
      <p:sp>
        <p:nvSpPr>
          <p:cNvPr id="36" name="Text 34"/>
          <p:cNvSpPr/>
          <p:nvPr/>
        </p:nvSpPr>
        <p:spPr>
          <a:xfrm>
            <a:off x="8295437"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37" name="Shape 35"/>
          <p:cNvSpPr/>
          <p:nvPr/>
        </p:nvSpPr>
        <p:spPr>
          <a:xfrm>
            <a:off x="8295437" y="3703320"/>
            <a:ext cx="3301898" cy="1581912"/>
          </a:xfrm>
          <a:prstGeom prst="rect">
            <a:avLst/>
          </a:prstGeom>
          <a:solidFill>
            <a:srgbClr val="FFFFFF"/>
          </a:solidFill>
          <a:ln w="6350">
            <a:solidFill>
              <a:srgbClr val="C9D2D9"/>
            </a:solidFill>
            <a:prstDash val="solid"/>
          </a:ln>
        </p:spPr>
      </p:sp>
      <p:sp>
        <p:nvSpPr>
          <p:cNvPr id="38" name="Text 36"/>
          <p:cNvSpPr/>
          <p:nvPr/>
        </p:nvSpPr>
        <p:spPr>
          <a:xfrm>
            <a:off x="8386877" y="3794760"/>
            <a:ext cx="3119018" cy="1280160"/>
          </a:xfrm>
          <a:prstGeom prst="rect">
            <a:avLst/>
          </a:prstGeom>
          <a:noFill/>
          <a:ln/>
        </p:spPr>
        <p:txBody>
          <a:bodyPr wrap="square" lIns="0" tIns="0" rIns="0" bIns="0" rtlCol="0" anchor="t"/>
          <a:lstStyle/>
          <a:p>
            <a:pPr>
              <a:spcAft>
                <a:spcPts val="300"/>
              </a:spcAft>
            </a:pPr>
            <a:r>
              <a:rPr lang="en-US" sz="1000" dirty="0">
                <a:solidFill>
                  <a:srgbClr val="1A1A1A"/>
                </a:solidFill>
                <a:latin typeface="Consolas" pitchFamily="34" charset="0"/>
                <a:ea typeface="Consolas" pitchFamily="34" charset="-122"/>
                <a:cs typeface="Consolas" pitchFamily="34" charset="-120"/>
              </a:rPr>
              <a:t>"Reset scale-1 — would have failed in ~2.5 s.“</a:t>
            </a:r>
          </a:p>
          <a:p>
            <a:pPr>
              <a:spcAft>
                <a:spcPts val="300"/>
              </a:spcAft>
            </a:pPr>
            <a:endParaRPr lang="en-US" sz="1000" dirty="0">
              <a:solidFill>
                <a:srgbClr val="1A1A1A"/>
              </a:solidFill>
              <a:latin typeface="Consolas" pitchFamily="34" charset="0"/>
              <a:ea typeface="Consolas" pitchFamily="34" charset="-122"/>
              <a:cs typeface="Consolas" pitchFamily="34" charset="-120"/>
            </a:endParaRPr>
          </a:p>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r>
              <a:rPr lang="en-US" sz="1000" dirty="0"/>
              <a:t> </a:t>
            </a:r>
            <a:r>
              <a:rPr lang="en-US" sz="1000" b="1" dirty="0">
                <a:solidFill>
                  <a:srgbClr val="1A1A1A"/>
                </a:solidFill>
                <a:latin typeface="Consolas" pitchFamily="34" charset="0"/>
                <a:ea typeface="Consolas" pitchFamily="34" charset="-122"/>
                <a:cs typeface="Consolas" pitchFamily="34" charset="-120"/>
              </a:rPr>
              <a:t>Check scale-2 manually</a:t>
            </a:r>
            <a:r>
              <a:rPr lang="en-US" sz="1000" dirty="0">
                <a:solidFill>
                  <a:srgbClr val="1A1A1A"/>
                </a:solidFill>
                <a:latin typeface="Consolas" pitchFamily="34" charset="0"/>
                <a:ea typeface="Consolas" pitchFamily="34" charset="-122"/>
                <a:cs typeface="Consolas" pitchFamily="34" charset="-120"/>
              </a:rPr>
              <a:t>."</a:t>
            </a:r>
            <a:endParaRPr lang="en-US" sz="1000" dirty="0"/>
          </a:p>
        </p:txBody>
      </p:sp>
      <p:sp>
        <p:nvSpPr>
          <p:cNvPr id="39" name="Text 37"/>
          <p:cNvSpPr/>
          <p:nvPr/>
        </p:nvSpPr>
        <p:spPr>
          <a:xfrm>
            <a:off x="8295436" y="5370343"/>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F2 plus an explicit operator cue.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4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Research Question &amp; Hypotheses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H1 + H2 jointly instantiate the explainability ≠ explicability crossover; H3 and H4 are supporting.</a:t>
            </a:r>
            <a:endParaRPr lang="en-US" sz="1300" dirty="0"/>
          </a:p>
        </p:txBody>
      </p:sp>
      <p:sp>
        <p:nvSpPr>
          <p:cNvPr id="13" name="Shape 11"/>
          <p:cNvSpPr/>
          <p:nvPr/>
        </p:nvSpPr>
        <p:spPr>
          <a:xfrm>
            <a:off x="411480" y="1874520"/>
            <a:ext cx="11368735" cy="868680"/>
          </a:xfrm>
          <a:prstGeom prst="rect">
            <a:avLst/>
          </a:prstGeom>
          <a:solidFill>
            <a:srgbClr val="F4F6F8"/>
          </a:solidFill>
          <a:ln w="9525">
            <a:solidFill>
              <a:srgbClr val="C9D2D9"/>
            </a:solidFill>
            <a:prstDash val="solid"/>
          </a:ln>
        </p:spPr>
      </p:sp>
      <p:sp>
        <p:nvSpPr>
          <p:cNvPr id="14" name="Shape 12"/>
          <p:cNvSpPr/>
          <p:nvPr/>
        </p:nvSpPr>
        <p:spPr>
          <a:xfrm>
            <a:off x="411480" y="1874520"/>
            <a:ext cx="91440" cy="868680"/>
          </a:xfrm>
          <a:prstGeom prst="rect">
            <a:avLst/>
          </a:prstGeom>
          <a:solidFill>
            <a:srgbClr val="143847"/>
          </a:solidFill>
          <a:ln w="12700">
            <a:solidFill>
              <a:srgbClr val="143847"/>
            </a:solidFill>
            <a:prstDash val="solid"/>
          </a:ln>
        </p:spPr>
      </p:sp>
      <p:sp>
        <p:nvSpPr>
          <p:cNvPr id="15" name="Text 13"/>
          <p:cNvSpPr/>
          <p:nvPr/>
        </p:nvSpPr>
        <p:spPr>
          <a:xfrm>
            <a:off x="640080" y="1920240"/>
            <a:ext cx="11140135"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Research question</a:t>
            </a:r>
            <a:endParaRPr lang="en-US" sz="1200" dirty="0"/>
          </a:p>
        </p:txBody>
      </p:sp>
      <p:sp>
        <p:nvSpPr>
          <p:cNvPr id="16" name="Text 14"/>
          <p:cNvSpPr/>
          <p:nvPr/>
        </p:nvSpPr>
        <p:spPr>
          <a:xfrm>
            <a:off x="640080" y="2194560"/>
            <a:ext cx="11140135" cy="548640"/>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Does the form of an automation aid's reasoning explanation — holding action-relevant information constant — change subjective transparency and whether the operator's mental model actually updates under multitasking load?</a:t>
            </a:r>
            <a:endParaRPr lang="en-US" sz="1300" dirty="0"/>
          </a:p>
        </p:txBody>
      </p:sp>
      <p:sp>
        <p:nvSpPr>
          <p:cNvPr id="17" name="Text 15"/>
          <p:cNvSpPr/>
          <p:nvPr/>
        </p:nvSpPr>
        <p:spPr>
          <a:xfrm>
            <a:off x="411479" y="2912012"/>
            <a:ext cx="11368735"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Hypotheses  ·  H1 and H2 are the main hypothesis</a:t>
            </a:r>
          </a:p>
          <a:p>
            <a:pPr marL="0" indent="0">
              <a:buNone/>
            </a:pPr>
            <a:endParaRPr lang="en-US" sz="1200" dirty="0"/>
          </a:p>
        </p:txBody>
      </p:sp>
      <p:sp>
        <p:nvSpPr>
          <p:cNvPr id="18" name="Shape 16"/>
          <p:cNvSpPr/>
          <p:nvPr/>
        </p:nvSpPr>
        <p:spPr>
          <a:xfrm>
            <a:off x="411480" y="3200400"/>
            <a:ext cx="5592928" cy="1554480"/>
          </a:xfrm>
          <a:prstGeom prst="rect">
            <a:avLst/>
          </a:prstGeom>
          <a:solidFill>
            <a:srgbClr val="FFFFFF"/>
          </a:solidFill>
          <a:ln w="9525">
            <a:solidFill>
              <a:srgbClr val="C9D2D9"/>
            </a:solidFill>
            <a:prstDash val="solid"/>
          </a:ln>
        </p:spPr>
        <p:txBody>
          <a:bodyPr/>
          <a:lstStyle/>
          <a:p>
            <a:endParaRPr lang="de-DE" dirty="0"/>
          </a:p>
        </p:txBody>
      </p:sp>
      <p:sp>
        <p:nvSpPr>
          <p:cNvPr id="19" name="Shape 17"/>
          <p:cNvSpPr/>
          <p:nvPr/>
        </p:nvSpPr>
        <p:spPr>
          <a:xfrm>
            <a:off x="411480" y="3200400"/>
            <a:ext cx="73152" cy="1554480"/>
          </a:xfrm>
          <a:prstGeom prst="rect">
            <a:avLst/>
          </a:prstGeom>
          <a:solidFill>
            <a:srgbClr val="8C1D2C"/>
          </a:solidFill>
          <a:ln w="12700">
            <a:solidFill>
              <a:srgbClr val="8C1D2C"/>
            </a:solidFill>
            <a:prstDash val="solid"/>
          </a:ln>
        </p:spPr>
      </p:sp>
      <p:sp>
        <p:nvSpPr>
          <p:cNvPr id="20" name="Text 18"/>
          <p:cNvSpPr/>
          <p:nvPr/>
        </p:nvSpPr>
        <p:spPr>
          <a:xfrm>
            <a:off x="594360" y="3291840"/>
            <a:ext cx="5318608" cy="502920"/>
          </a:xfrm>
          <a:prstGeom prst="rect">
            <a:avLst/>
          </a:prstGeom>
          <a:noFill/>
          <a:ln/>
        </p:spPr>
        <p:txBody>
          <a:bodyPr wrap="square" lIns="0" tIns="0" rIns="0" bIns="0" rtlCol="0" anchor="t"/>
          <a:lstStyle/>
          <a:p>
            <a:pPr marL="0" indent="0">
              <a:buNone/>
            </a:pPr>
            <a:r>
              <a:rPr lang="en-US" sz="1300" b="1" dirty="0">
                <a:solidFill>
                  <a:srgbClr val="8C1D2C"/>
                </a:solidFill>
                <a:latin typeface="Calibri" pitchFamily="34" charset="0"/>
                <a:ea typeface="Calibri" pitchFamily="34" charset="-122"/>
                <a:cs typeface="Calibri" pitchFamily="34" charset="-120"/>
              </a:rPr>
              <a:t>H1  </a:t>
            </a:r>
            <a:r>
              <a:rPr lang="en-US" sz="1200" b="1" dirty="0">
                <a:solidFill>
                  <a:srgbClr val="1A1A1A"/>
                </a:solidFill>
                <a:latin typeface="Calibri" pitchFamily="34" charset="0"/>
                <a:ea typeface="Calibri" pitchFamily="34" charset="-122"/>
                <a:cs typeface="Calibri" pitchFamily="34" charset="-120"/>
              </a:rPr>
              <a:t>Subjective transparency and subjective trust </a:t>
            </a:r>
            <a:r>
              <a:rPr lang="en-US" sz="1200" b="1" dirty="0" err="1">
                <a:solidFill>
                  <a:srgbClr val="1A1A1A"/>
                </a:solidFill>
                <a:latin typeface="Calibri" pitchFamily="34" charset="0"/>
                <a:ea typeface="Calibri" pitchFamily="34" charset="-122"/>
                <a:cs typeface="Calibri" pitchFamily="34" charset="-120"/>
              </a:rPr>
              <a:t>favour</a:t>
            </a:r>
            <a:r>
              <a:rPr lang="en-US" sz="1200" b="1" dirty="0">
                <a:solidFill>
                  <a:srgbClr val="1A1A1A"/>
                </a:solidFill>
                <a:latin typeface="Calibri" pitchFamily="34" charset="0"/>
                <a:ea typeface="Calibri" pitchFamily="34" charset="-122"/>
                <a:cs typeface="Calibri" pitchFamily="34" charset="-120"/>
              </a:rPr>
              <a:t> verbose explanations</a:t>
            </a:r>
            <a:endParaRPr lang="en-US" sz="1300" dirty="0"/>
          </a:p>
        </p:txBody>
      </p:sp>
      <p:sp>
        <p:nvSpPr>
          <p:cNvPr id="21" name="Text 19"/>
          <p:cNvSpPr/>
          <p:nvPr/>
        </p:nvSpPr>
        <p:spPr>
          <a:xfrm>
            <a:off x="594360" y="3703320"/>
            <a:ext cx="5318608" cy="9601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Participants will rate the verbose always-on explanation (F1) as more transparent and more trustworthy than the selective explanations (F2/F3) , even when action-relevant information is held constant.</a:t>
            </a:r>
            <a:endParaRPr lang="en-US" sz="1200" dirty="0"/>
          </a:p>
        </p:txBody>
      </p:sp>
      <p:sp>
        <p:nvSpPr>
          <p:cNvPr id="22" name="Shape 20"/>
          <p:cNvSpPr/>
          <p:nvPr/>
        </p:nvSpPr>
        <p:spPr>
          <a:xfrm>
            <a:off x="6187288" y="3200400"/>
            <a:ext cx="5592928" cy="1554480"/>
          </a:xfrm>
          <a:prstGeom prst="rect">
            <a:avLst/>
          </a:prstGeom>
          <a:solidFill>
            <a:srgbClr val="FFFFFF"/>
          </a:solidFill>
          <a:ln w="9525">
            <a:solidFill>
              <a:srgbClr val="C9D2D9"/>
            </a:solidFill>
            <a:prstDash val="solid"/>
          </a:ln>
        </p:spPr>
      </p:sp>
      <p:sp>
        <p:nvSpPr>
          <p:cNvPr id="23" name="Shape 21"/>
          <p:cNvSpPr/>
          <p:nvPr/>
        </p:nvSpPr>
        <p:spPr>
          <a:xfrm>
            <a:off x="6187288" y="3200400"/>
            <a:ext cx="73152" cy="1554480"/>
          </a:xfrm>
          <a:prstGeom prst="rect">
            <a:avLst/>
          </a:prstGeom>
          <a:solidFill>
            <a:srgbClr val="8C1D2C"/>
          </a:solidFill>
          <a:ln w="12700">
            <a:solidFill>
              <a:srgbClr val="8C1D2C"/>
            </a:solidFill>
            <a:prstDash val="solid"/>
          </a:ln>
        </p:spPr>
      </p:sp>
      <p:sp>
        <p:nvSpPr>
          <p:cNvPr id="24" name="Text 22"/>
          <p:cNvSpPr/>
          <p:nvPr/>
        </p:nvSpPr>
        <p:spPr>
          <a:xfrm>
            <a:off x="6370168" y="3291840"/>
            <a:ext cx="5318608" cy="502920"/>
          </a:xfrm>
          <a:prstGeom prst="rect">
            <a:avLst/>
          </a:prstGeom>
          <a:noFill/>
          <a:ln/>
        </p:spPr>
        <p:txBody>
          <a:bodyPr wrap="square" lIns="0" tIns="0" rIns="0" bIns="0" rtlCol="0" anchor="t"/>
          <a:lstStyle/>
          <a:p>
            <a:pPr marL="0" indent="0">
              <a:buNone/>
            </a:pPr>
            <a:r>
              <a:rPr lang="en-US" sz="1300" b="1" dirty="0">
                <a:solidFill>
                  <a:srgbClr val="8C1D2C"/>
                </a:solidFill>
                <a:latin typeface="Calibri" pitchFamily="34" charset="0"/>
                <a:ea typeface="Calibri" pitchFamily="34" charset="-122"/>
                <a:cs typeface="Calibri" pitchFamily="34" charset="-120"/>
              </a:rPr>
              <a:t>H2  </a:t>
            </a:r>
            <a:r>
              <a:rPr lang="en-US" sz="1200" b="1" dirty="0">
                <a:solidFill>
                  <a:srgbClr val="1A1A1A"/>
                </a:solidFill>
                <a:latin typeface="Calibri" pitchFamily="34" charset="0"/>
                <a:ea typeface="Calibri" pitchFamily="34" charset="-122"/>
                <a:cs typeface="Calibri" pitchFamily="34" charset="-120"/>
              </a:rPr>
              <a:t>Form modulates explicability</a:t>
            </a:r>
            <a:endParaRPr lang="en-US" sz="1300" dirty="0"/>
          </a:p>
        </p:txBody>
      </p:sp>
      <p:sp>
        <p:nvSpPr>
          <p:cNvPr id="25" name="Text 23"/>
          <p:cNvSpPr/>
          <p:nvPr/>
        </p:nvSpPr>
        <p:spPr>
          <a:xfrm>
            <a:off x="6370168" y="3703320"/>
            <a:ext cx="5318608" cy="9601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Participants exposed to selective and contrastive explanations (F2/F3) will achieve higher post-block mental-model accuracy than participants exposed to a verbose always-on explanation (F1), even when action-relevant information is held constant.</a:t>
            </a:r>
            <a:endParaRPr lang="en-US" sz="1200" dirty="0"/>
          </a:p>
        </p:txBody>
      </p:sp>
      <p:sp>
        <p:nvSpPr>
          <p:cNvPr id="26" name="Shape 24"/>
          <p:cNvSpPr/>
          <p:nvPr/>
        </p:nvSpPr>
        <p:spPr>
          <a:xfrm>
            <a:off x="411480" y="4846320"/>
            <a:ext cx="5592928" cy="1554480"/>
          </a:xfrm>
          <a:prstGeom prst="rect">
            <a:avLst/>
          </a:prstGeom>
          <a:solidFill>
            <a:srgbClr val="FFFFFF"/>
          </a:solidFill>
          <a:ln w="9525">
            <a:solidFill>
              <a:srgbClr val="C9D2D9"/>
            </a:solidFill>
            <a:prstDash val="solid"/>
          </a:ln>
        </p:spPr>
        <p:txBody>
          <a:bodyPr/>
          <a:lstStyle/>
          <a:p>
            <a:endParaRPr lang="de-DE" dirty="0"/>
          </a:p>
        </p:txBody>
      </p:sp>
      <p:sp>
        <p:nvSpPr>
          <p:cNvPr id="27" name="Shape 25"/>
          <p:cNvSpPr/>
          <p:nvPr/>
        </p:nvSpPr>
        <p:spPr>
          <a:xfrm>
            <a:off x="411480" y="4846320"/>
            <a:ext cx="73152" cy="1554480"/>
          </a:xfrm>
          <a:prstGeom prst="rect">
            <a:avLst/>
          </a:prstGeom>
          <a:solidFill>
            <a:srgbClr val="143847"/>
          </a:solidFill>
          <a:ln w="12700">
            <a:solidFill>
              <a:srgbClr val="143847"/>
            </a:solidFill>
            <a:prstDash val="solid"/>
          </a:ln>
        </p:spPr>
      </p:sp>
      <p:sp>
        <p:nvSpPr>
          <p:cNvPr id="28" name="Text 26"/>
          <p:cNvSpPr/>
          <p:nvPr/>
        </p:nvSpPr>
        <p:spPr>
          <a:xfrm>
            <a:off x="594360" y="4937760"/>
            <a:ext cx="5318608" cy="502920"/>
          </a:xfrm>
          <a:prstGeom prst="rect">
            <a:avLst/>
          </a:prstGeom>
          <a:noFill/>
          <a:ln/>
        </p:spPr>
        <p:txBody>
          <a:bodyPr wrap="square" lIns="0" tIns="0" rIns="0" bIns="0" rtlCol="0" anchor="t"/>
          <a:lstStyle/>
          <a:p>
            <a:pPr marL="0" indent="0">
              <a:buNone/>
            </a:pPr>
            <a:r>
              <a:rPr lang="en-US" sz="1300" b="1" dirty="0">
                <a:solidFill>
                  <a:srgbClr val="143847"/>
                </a:solidFill>
                <a:latin typeface="Calibri" pitchFamily="34" charset="0"/>
                <a:ea typeface="Calibri" pitchFamily="34" charset="-122"/>
                <a:cs typeface="Calibri" pitchFamily="34" charset="-120"/>
              </a:rPr>
              <a:t>H3  </a:t>
            </a:r>
            <a:r>
              <a:rPr lang="en-US" sz="1200" b="1" dirty="0">
                <a:solidFill>
                  <a:srgbClr val="1A1A1A"/>
                </a:solidFill>
                <a:latin typeface="Calibri" pitchFamily="34" charset="0"/>
                <a:ea typeface="Calibri" pitchFamily="34" charset="-122"/>
                <a:cs typeface="Calibri" pitchFamily="34" charset="-120"/>
              </a:rPr>
              <a:t>Selectivity directs attention to anomalies and improves </a:t>
            </a:r>
            <a:r>
              <a:rPr lang="en-US" sz="1200" b="1">
                <a:solidFill>
                  <a:srgbClr val="1A1A1A"/>
                </a:solidFill>
                <a:latin typeface="Calibri" pitchFamily="34" charset="0"/>
                <a:ea typeface="Calibri" pitchFamily="34" charset="-122"/>
                <a:cs typeface="Calibri" pitchFamily="34" charset="-120"/>
              </a:rPr>
              <a:t>subjective trust</a:t>
            </a:r>
            <a:endParaRPr lang="en-US" sz="1300" dirty="0"/>
          </a:p>
        </p:txBody>
      </p:sp>
      <p:sp>
        <p:nvSpPr>
          <p:cNvPr id="29" name="Text 27"/>
          <p:cNvSpPr/>
          <p:nvPr/>
        </p:nvSpPr>
        <p:spPr>
          <a:xfrm>
            <a:off x="594360" y="5349240"/>
            <a:ext cx="5318608" cy="9601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A: Participants will detect a higher proportion of automation-missed events under selective explanations (F2/F3) than under a verbose always-on explanation (F1).</a:t>
            </a:r>
          </a:p>
          <a:p>
            <a:pPr marL="0" indent="0">
              <a:buNone/>
            </a:pPr>
            <a:endParaRPr lang="en-US" sz="1200" dirty="0">
              <a:solidFill>
                <a:srgbClr val="1A1A1A"/>
              </a:solidFill>
              <a:latin typeface="Calibri" pitchFamily="34" charset="0"/>
              <a:ea typeface="Calibri" pitchFamily="34" charset="-122"/>
              <a:cs typeface="Calibri" pitchFamily="34" charset="-120"/>
            </a:endParaRPr>
          </a:p>
          <a:p>
            <a:pPr marL="0" indent="0">
              <a:buNone/>
            </a:pPr>
            <a:r>
              <a:rPr lang="en-US" sz="1200" dirty="0">
                <a:solidFill>
                  <a:srgbClr val="1A1A1A"/>
                </a:solidFill>
                <a:latin typeface="Calibri" pitchFamily="34" charset="0"/>
                <a:ea typeface="Calibri" pitchFamily="34" charset="-122"/>
                <a:cs typeface="Calibri" pitchFamily="34" charset="-120"/>
              </a:rPr>
              <a:t>B: Participants will less likely overwrite the aid even when it was right under (F2/F3) than under (F1).</a:t>
            </a:r>
          </a:p>
        </p:txBody>
      </p:sp>
      <p:sp>
        <p:nvSpPr>
          <p:cNvPr id="30" name="Shape 28"/>
          <p:cNvSpPr/>
          <p:nvPr/>
        </p:nvSpPr>
        <p:spPr>
          <a:xfrm>
            <a:off x="6187288" y="4846320"/>
            <a:ext cx="5592928" cy="1554480"/>
          </a:xfrm>
          <a:prstGeom prst="rect">
            <a:avLst/>
          </a:prstGeom>
          <a:solidFill>
            <a:srgbClr val="FFFFFF"/>
          </a:solidFill>
          <a:ln w="9525">
            <a:solidFill>
              <a:srgbClr val="C9D2D9"/>
            </a:solidFill>
            <a:prstDash val="solid"/>
          </a:ln>
        </p:spPr>
      </p:sp>
      <p:sp>
        <p:nvSpPr>
          <p:cNvPr id="31" name="Shape 29"/>
          <p:cNvSpPr/>
          <p:nvPr/>
        </p:nvSpPr>
        <p:spPr>
          <a:xfrm>
            <a:off x="6187288" y="4846320"/>
            <a:ext cx="73152" cy="1554480"/>
          </a:xfrm>
          <a:prstGeom prst="rect">
            <a:avLst/>
          </a:prstGeom>
          <a:solidFill>
            <a:srgbClr val="143847"/>
          </a:solidFill>
          <a:ln w="12700">
            <a:solidFill>
              <a:srgbClr val="143847"/>
            </a:solidFill>
            <a:prstDash val="solid"/>
          </a:ln>
        </p:spPr>
      </p:sp>
      <p:sp>
        <p:nvSpPr>
          <p:cNvPr id="32" name="Text 30"/>
          <p:cNvSpPr/>
          <p:nvPr/>
        </p:nvSpPr>
        <p:spPr>
          <a:xfrm>
            <a:off x="6370168" y="4937760"/>
            <a:ext cx="5318608" cy="502920"/>
          </a:xfrm>
          <a:prstGeom prst="rect">
            <a:avLst/>
          </a:prstGeom>
          <a:noFill/>
          <a:ln/>
        </p:spPr>
        <p:txBody>
          <a:bodyPr wrap="square" lIns="0" tIns="0" rIns="0" bIns="0" rtlCol="0" anchor="t"/>
          <a:lstStyle/>
          <a:p>
            <a:pPr marL="0" indent="0">
              <a:buNone/>
            </a:pPr>
            <a:r>
              <a:rPr lang="en-US" sz="1300" b="1" dirty="0">
                <a:solidFill>
                  <a:srgbClr val="143847"/>
                </a:solidFill>
                <a:latin typeface="Calibri" pitchFamily="34" charset="0"/>
                <a:ea typeface="Calibri" pitchFamily="34" charset="-122"/>
                <a:cs typeface="Calibri" pitchFamily="34" charset="-120"/>
              </a:rPr>
              <a:t>H4  </a:t>
            </a:r>
            <a:r>
              <a:rPr lang="en-US" sz="1200" b="1" dirty="0">
                <a:solidFill>
                  <a:srgbClr val="1A1A1A"/>
                </a:solidFill>
                <a:latin typeface="Calibri" pitchFamily="34" charset="0"/>
                <a:ea typeface="Calibri" pitchFamily="34" charset="-122"/>
                <a:cs typeface="Calibri" pitchFamily="34" charset="-120"/>
              </a:rPr>
              <a:t>Saved attention is redeployed</a:t>
            </a:r>
            <a:endParaRPr lang="en-US" sz="1300" dirty="0"/>
          </a:p>
        </p:txBody>
      </p:sp>
      <p:sp>
        <p:nvSpPr>
          <p:cNvPr id="33" name="Text 31"/>
          <p:cNvSpPr/>
          <p:nvPr/>
        </p:nvSpPr>
        <p:spPr>
          <a:xfrm>
            <a:off x="6370168" y="5349240"/>
            <a:ext cx="5318608" cy="9601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Participants will achieve higher performance on the non-automated tasks (communications and resource management) under selective explanations (F2/F3) than under a verbose always-on explanation (F1).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5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Method</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Within-subjects on the OpenMATB platform · ~20 min per participant.</a:t>
            </a:r>
            <a:endParaRPr lang="en-US" sz="1300" dirty="0"/>
          </a:p>
        </p:txBody>
      </p:sp>
      <p:sp>
        <p:nvSpPr>
          <p:cNvPr id="13" name="Text 11"/>
          <p:cNvSpPr/>
          <p:nvPr/>
        </p:nvSpPr>
        <p:spPr>
          <a:xfrm>
            <a:off x="411480" y="1920240"/>
            <a:ext cx="54864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Study design and implementation</a:t>
            </a:r>
            <a:endParaRPr lang="en-US" sz="1400" dirty="0"/>
          </a:p>
        </p:txBody>
      </p:sp>
      <p:sp>
        <p:nvSpPr>
          <p:cNvPr id="14" name="Text 12"/>
          <p:cNvSpPr/>
          <p:nvPr/>
        </p:nvSpPr>
        <p:spPr>
          <a:xfrm>
            <a:off x="411480" y="2267712"/>
            <a:ext cx="5486400" cy="4080334"/>
          </a:xfrm>
          <a:prstGeom prst="rect">
            <a:avLst/>
          </a:prstGeom>
          <a:noFill/>
          <a:ln/>
        </p:spPr>
        <p:txBody>
          <a:bodyPr wrap="square" lIns="0" tIns="0" rIns="0" bIns="0" rtlCol="0" anchor="t"/>
          <a:lstStyle/>
          <a:p>
            <a:pPr marL="0" indent="0">
              <a:spcAft>
                <a:spcPts val="300"/>
              </a:spcAft>
              <a:buNone/>
            </a:pPr>
            <a:r>
              <a:rPr lang="en-US" sz="1400" b="1" dirty="0">
                <a:solidFill>
                  <a:srgbClr val="1A1A1A"/>
                </a:solidFill>
                <a:ea typeface="Calibri" pitchFamily="34" charset="-122"/>
                <a:cs typeface="Calibri" pitchFamily="34" charset="-120"/>
              </a:rPr>
              <a:t>Platform.  </a:t>
            </a:r>
            <a:r>
              <a:rPr lang="en-US" sz="1400" dirty="0">
                <a:solidFill>
                  <a:srgbClr val="1A1A1A"/>
                </a:solidFill>
                <a:ea typeface="Calibri" pitchFamily="34" charset="-122"/>
                <a:cs typeface="Calibri" pitchFamily="34" charset="-120"/>
              </a:rPr>
              <a:t>OpenMATB — three concurrent supervisory tasks: system monitoring, communications, and resource management.</a:t>
            </a:r>
            <a:endParaRPr lang="en-US" sz="1400" dirty="0"/>
          </a:p>
          <a:p>
            <a:pPr marL="0" indent="0">
              <a:spcAft>
                <a:spcPts val="300"/>
              </a:spcAft>
              <a:buNone/>
            </a:pPr>
            <a:r>
              <a:rPr lang="en-US" sz="1400" dirty="0">
                <a:solidFill>
                  <a:srgbClr val="1A1A1A"/>
                </a:solidFill>
                <a:ea typeface="Calibri" pitchFamily="34" charset="-122"/>
                <a:cs typeface="Calibri" pitchFamily="34" charset="-120"/>
              </a:rPr>
              <a:t> </a:t>
            </a:r>
            <a:endParaRPr lang="en-US" sz="1400" dirty="0"/>
          </a:p>
          <a:p>
            <a:pPr marL="0" indent="0">
              <a:spcAft>
                <a:spcPts val="300"/>
              </a:spcAft>
              <a:buNone/>
            </a:pPr>
            <a:r>
              <a:rPr lang="en-US" sz="1400" b="1" dirty="0">
                <a:solidFill>
                  <a:srgbClr val="1A1A1A"/>
                </a:solidFill>
                <a:ea typeface="Calibri" pitchFamily="34" charset="-122"/>
                <a:cs typeface="Calibri" pitchFamily="34" charset="-120"/>
              </a:rPr>
              <a:t>Automation aid.  </a:t>
            </a:r>
            <a:r>
              <a:rPr lang="en-US" sz="1400" dirty="0">
                <a:solidFill>
                  <a:srgbClr val="1A1A1A"/>
                </a:solidFill>
                <a:ea typeface="Calibri" pitchFamily="34" charset="-122"/>
                <a:cs typeface="Calibri" pitchFamily="34" charset="-120"/>
              </a:rPr>
              <a:t>Runs </a:t>
            </a:r>
            <a:r>
              <a:rPr lang="en-US" sz="1400" b="1" dirty="0">
                <a:solidFill>
                  <a:srgbClr val="143847"/>
                </a:solidFill>
                <a:latin typeface="Calibri" pitchFamily="34" charset="0"/>
                <a:ea typeface="Calibri" pitchFamily="34" charset="-122"/>
                <a:cs typeface="Calibri" pitchFamily="34" charset="-120"/>
              </a:rPr>
              <a:t>only</a:t>
            </a:r>
            <a:r>
              <a:rPr lang="en-US" sz="1400" dirty="0">
                <a:solidFill>
                  <a:srgbClr val="1A1A1A"/>
                </a:solidFill>
                <a:ea typeface="Calibri" pitchFamily="34" charset="-122"/>
                <a:cs typeface="Calibri" pitchFamily="34" charset="-120"/>
              </a:rPr>
              <a:t> on system monitoring at ~78% reliability; the other two tasks compete for attention and are not aided. Every automation miss is communicated, so that the operator can handle the event manually if the information is perceived and processed.</a:t>
            </a:r>
            <a:endParaRPr lang="en-US" sz="1400" dirty="0"/>
          </a:p>
          <a:p>
            <a:pPr marL="0" indent="0">
              <a:spcAft>
                <a:spcPts val="300"/>
              </a:spcAft>
              <a:buNone/>
            </a:pPr>
            <a:r>
              <a:rPr lang="en-US" sz="1400" dirty="0">
                <a:solidFill>
                  <a:srgbClr val="1A1A1A"/>
                </a:solidFill>
                <a:ea typeface="Calibri" pitchFamily="34" charset="-122"/>
                <a:cs typeface="Calibri" pitchFamily="34" charset="-120"/>
              </a:rPr>
              <a:t> </a:t>
            </a:r>
            <a:endParaRPr lang="en-US" sz="1400" dirty="0"/>
          </a:p>
          <a:p>
            <a:pPr marL="0" indent="0">
              <a:spcAft>
                <a:spcPts val="300"/>
              </a:spcAft>
              <a:buNone/>
            </a:pPr>
            <a:r>
              <a:rPr lang="en-US" sz="1400" b="1" dirty="0">
                <a:solidFill>
                  <a:srgbClr val="1A1A1A"/>
                </a:solidFill>
                <a:ea typeface="Calibri" pitchFamily="34" charset="-122"/>
                <a:cs typeface="Calibri" pitchFamily="34" charset="-120"/>
              </a:rPr>
              <a:t>Within-subjects design.  </a:t>
            </a:r>
            <a:r>
              <a:rPr lang="en-US" sz="1400" dirty="0">
                <a:solidFill>
                  <a:srgbClr val="1A1A1A"/>
                </a:solidFill>
                <a:ea typeface="Calibri" pitchFamily="34" charset="-122"/>
                <a:cs typeface="Calibri" pitchFamily="34" charset="-120"/>
              </a:rPr>
              <a:t>Each participant runs all three forms (F1/F2/F3), each on three different gauge sets (A,B,C). The gauge sets contain different subsets of gauges and lights that need the operator’s attention, s</a:t>
            </a:r>
            <a:r>
              <a:rPr lang="en-US" sz="1400" b="0" i="0" dirty="0">
                <a:solidFill>
                  <a:srgbClr val="3B3B3B"/>
                </a:solidFill>
                <a:effectLst/>
                <a:latin typeface="-apple-system"/>
              </a:rPr>
              <a:t>o the post-block memory probe cannot be answered by recall from another block.</a:t>
            </a:r>
            <a:r>
              <a:rPr lang="en-US" sz="1400" dirty="0">
                <a:solidFill>
                  <a:srgbClr val="1A1A1A"/>
                </a:solidFill>
                <a:ea typeface="Calibri" pitchFamily="34" charset="-122"/>
                <a:cs typeface="Calibri" pitchFamily="34" charset="-120"/>
              </a:rPr>
              <a:t> Order of F1/F2/F3 is counterbalanced across participants to mitigate learning effects.</a:t>
            </a:r>
            <a:endParaRPr lang="en-US" sz="1400" dirty="0"/>
          </a:p>
          <a:p>
            <a:pPr marL="0" indent="0">
              <a:spcAft>
                <a:spcPts val="300"/>
              </a:spcAft>
              <a:buNone/>
            </a:pPr>
            <a:r>
              <a:rPr lang="en-US" sz="1400" dirty="0">
                <a:solidFill>
                  <a:srgbClr val="1A1A1A"/>
                </a:solidFill>
                <a:ea typeface="Calibri" pitchFamily="34" charset="-122"/>
                <a:cs typeface="Calibri" pitchFamily="34" charset="-120"/>
              </a:rPr>
              <a:t> </a:t>
            </a:r>
            <a:endParaRPr lang="en-US" sz="1400" dirty="0"/>
          </a:p>
          <a:p>
            <a:pPr marL="0" indent="0">
              <a:spcAft>
                <a:spcPts val="300"/>
              </a:spcAft>
              <a:buNone/>
            </a:pPr>
            <a:r>
              <a:rPr lang="en-US" sz="1400" b="1" dirty="0">
                <a:solidFill>
                  <a:srgbClr val="1A1A1A"/>
                </a:solidFill>
                <a:ea typeface="Calibri" pitchFamily="34" charset="-122"/>
                <a:cs typeface="Calibri" pitchFamily="34" charset="-120"/>
              </a:rPr>
              <a:t>Session.  </a:t>
            </a:r>
            <a:r>
              <a:rPr lang="en-US" sz="1400" dirty="0">
                <a:solidFill>
                  <a:srgbClr val="1A1A1A"/>
                </a:solidFill>
                <a:ea typeface="Calibri" pitchFamily="34" charset="-122"/>
                <a:cs typeface="Calibri" pitchFamily="34" charset="-120"/>
              </a:rPr>
              <a:t>≈ 20 min per participant: 3 min practice → three 5 min experimental blocks → debriefing.</a:t>
            </a:r>
          </a:p>
          <a:p>
            <a:pPr marL="0" indent="0">
              <a:spcAft>
                <a:spcPts val="300"/>
              </a:spcAft>
              <a:buNone/>
            </a:pPr>
            <a:endParaRPr lang="en-US" sz="1200" dirty="0"/>
          </a:p>
          <a:p>
            <a:pPr marL="0" indent="0">
              <a:spcAft>
                <a:spcPts val="300"/>
              </a:spcAft>
              <a:buNone/>
            </a:pPr>
            <a:r>
              <a:rPr lang="en-US" sz="600" dirty="0">
                <a:solidFill>
                  <a:srgbClr val="1A1A1A"/>
                </a:solidFill>
                <a:ea typeface="Calibri" pitchFamily="34" charset="-122"/>
                <a:cs typeface="Calibri" pitchFamily="34" charset="-120"/>
              </a:rPr>
              <a:t> </a:t>
            </a:r>
            <a:endParaRPr lang="en-US" sz="1200" dirty="0"/>
          </a:p>
          <a:p>
            <a:pPr marL="0" indent="0">
              <a:spcAft>
                <a:spcPts val="300"/>
              </a:spcAft>
              <a:buNone/>
            </a:pPr>
            <a:endParaRPr lang="en-US" sz="1200" b="1" dirty="0">
              <a:solidFill>
                <a:srgbClr val="8C1D2C"/>
              </a:solidFill>
              <a:ea typeface="Calibri" pitchFamily="34" charset="-122"/>
              <a:cs typeface="Calibri" pitchFamily="34" charset="-120"/>
            </a:endParaRPr>
          </a:p>
          <a:p>
            <a:pPr marL="0" indent="0">
              <a:spcAft>
                <a:spcPts val="300"/>
              </a:spcAft>
              <a:buNone/>
            </a:pPr>
            <a:endParaRPr lang="en-US" sz="1200" b="1" dirty="0">
              <a:solidFill>
                <a:srgbClr val="8C1D2C"/>
              </a:solidFill>
              <a:ea typeface="Calibri" pitchFamily="34" charset="-122"/>
              <a:cs typeface="Calibri" pitchFamily="34" charset="-120"/>
            </a:endParaRPr>
          </a:p>
          <a:p>
            <a:pPr marL="0" indent="0">
              <a:spcAft>
                <a:spcPts val="300"/>
              </a:spcAft>
              <a:buNone/>
            </a:pPr>
            <a:endParaRPr lang="en-US" sz="1200" b="1" dirty="0">
              <a:solidFill>
                <a:srgbClr val="8C1D2C"/>
              </a:solidFill>
              <a:ea typeface="Calibri" pitchFamily="34" charset="-122"/>
              <a:cs typeface="Calibri" pitchFamily="34" charset="-120"/>
            </a:endParaRPr>
          </a:p>
        </p:txBody>
      </p:sp>
      <p:sp>
        <p:nvSpPr>
          <p:cNvPr id="15" name="Shape 13"/>
          <p:cNvSpPr/>
          <p:nvPr/>
        </p:nvSpPr>
        <p:spPr>
          <a:xfrm>
            <a:off x="6080760" y="1920240"/>
            <a:ext cx="0" cy="4160520"/>
          </a:xfrm>
          <a:prstGeom prst="line">
            <a:avLst/>
          </a:prstGeom>
          <a:noFill/>
          <a:ln w="9525">
            <a:solidFill>
              <a:srgbClr val="C9D2D9"/>
            </a:solidFill>
            <a:prstDash val="solid"/>
          </a:ln>
        </p:spPr>
      </p:sp>
      <p:sp>
        <p:nvSpPr>
          <p:cNvPr id="17" name="Text 15"/>
          <p:cNvSpPr/>
          <p:nvPr/>
        </p:nvSpPr>
        <p:spPr>
          <a:xfrm>
            <a:off x="6293815" y="3635214"/>
            <a:ext cx="5486400" cy="690605"/>
          </a:xfrm>
          <a:prstGeom prst="rect">
            <a:avLst/>
          </a:prstGeom>
          <a:noFill/>
          <a:ln/>
        </p:spPr>
        <p:txBody>
          <a:bodyPr wrap="square" lIns="0" tIns="0" rIns="0" bIns="0" rtlCol="0" anchor="t"/>
          <a:lstStyle/>
          <a:p>
            <a:pPr marL="171450" indent="-171450">
              <a:buFont typeface="Arial" panose="020B0604020202020204" pitchFamily="34" charset="0"/>
              <a:buChar char="•"/>
            </a:pPr>
            <a:r>
              <a:rPr lang="de-DE" sz="1400" dirty="0" err="1">
                <a:solidFill>
                  <a:srgbClr val="3B3B3B"/>
                </a:solidFill>
                <a:latin typeface="-apple-system"/>
              </a:rPr>
              <a:t>Three</a:t>
            </a:r>
            <a:r>
              <a:rPr lang="de-DE" sz="1400" dirty="0">
                <a:solidFill>
                  <a:srgbClr val="3B3B3B"/>
                </a:solidFill>
                <a:latin typeface="-apple-system"/>
              </a:rPr>
              <a:t> </a:t>
            </a:r>
            <a:r>
              <a:rPr lang="de-DE" sz="1400" dirty="0" err="1">
                <a:solidFill>
                  <a:srgbClr val="3B3B3B"/>
                </a:solidFill>
                <a:latin typeface="-apple-system"/>
              </a:rPr>
              <a:t>questionnaires</a:t>
            </a:r>
            <a:r>
              <a:rPr lang="en-US" sz="1400" dirty="0"/>
              <a:t> after each block</a:t>
            </a:r>
          </a:p>
          <a:p>
            <a:pPr marL="171450" indent="-171450">
              <a:buFont typeface="Arial" panose="020B0604020202020204" pitchFamily="34" charset="0"/>
              <a:buChar char="•"/>
            </a:pPr>
            <a:r>
              <a:rPr lang="en-US" sz="1400" dirty="0"/>
              <a:t>Platform log</a:t>
            </a:r>
          </a:p>
          <a:p>
            <a:pPr marL="171450" indent="-171450">
              <a:buFont typeface="Arial" panose="020B0604020202020204" pitchFamily="34" charset="0"/>
              <a:buChar char="•"/>
            </a:pPr>
            <a:r>
              <a:rPr lang="en-US" sz="1400" dirty="0"/>
              <a:t>One final questionnaire</a:t>
            </a:r>
          </a:p>
        </p:txBody>
      </p:sp>
      <p:sp>
        <p:nvSpPr>
          <p:cNvPr id="57" name="Text 14">
            <a:extLst>
              <a:ext uri="{FF2B5EF4-FFF2-40B4-BE49-F238E27FC236}">
                <a16:creationId xmlns:a16="http://schemas.microsoft.com/office/drawing/2014/main" id="{0967EADA-6F94-0B37-0F4E-0B70829C203C}"/>
              </a:ext>
            </a:extLst>
          </p:cNvPr>
          <p:cNvSpPr/>
          <p:nvPr/>
        </p:nvSpPr>
        <p:spPr>
          <a:xfrm>
            <a:off x="6309360" y="3306380"/>
            <a:ext cx="54864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What we measure</a:t>
            </a:r>
            <a:endParaRPr lang="en-US" sz="1400" dirty="0"/>
          </a:p>
        </p:txBody>
      </p:sp>
      <p:sp>
        <p:nvSpPr>
          <p:cNvPr id="59" name="Textfeld 58">
            <a:extLst>
              <a:ext uri="{FF2B5EF4-FFF2-40B4-BE49-F238E27FC236}">
                <a16:creationId xmlns:a16="http://schemas.microsoft.com/office/drawing/2014/main" id="{2668AE6A-5F18-F033-1266-8296B19B5313}"/>
              </a:ext>
            </a:extLst>
          </p:cNvPr>
          <p:cNvSpPr txBox="1"/>
          <p:nvPr/>
        </p:nvSpPr>
        <p:spPr>
          <a:xfrm>
            <a:off x="6257428" y="4443392"/>
            <a:ext cx="5383585" cy="992579"/>
          </a:xfrm>
          <a:prstGeom prst="rect">
            <a:avLst/>
          </a:prstGeom>
          <a:noFill/>
        </p:spPr>
        <p:txBody>
          <a:bodyPr wrap="square">
            <a:spAutoFit/>
          </a:bodyPr>
          <a:lstStyle/>
          <a:p>
            <a:pPr marL="0" indent="0">
              <a:spcAft>
                <a:spcPts val="300"/>
              </a:spcAft>
              <a:buNone/>
            </a:pPr>
            <a:r>
              <a:rPr lang="en-US" sz="1400" b="1" dirty="0">
                <a:solidFill>
                  <a:srgbClr val="8C1D2C"/>
                </a:solidFill>
                <a:ea typeface="Calibri" pitchFamily="34" charset="-122"/>
                <a:cs typeface="Calibri" pitchFamily="34" charset="-120"/>
              </a:rPr>
              <a:t>Content matching.  </a:t>
            </a:r>
          </a:p>
          <a:p>
            <a:pPr marL="0" indent="0">
              <a:spcAft>
                <a:spcPts val="300"/>
              </a:spcAft>
              <a:buNone/>
            </a:pPr>
            <a:r>
              <a:rPr lang="en-US" sz="1400" dirty="0">
                <a:solidFill>
                  <a:srgbClr val="1A1A1A"/>
                </a:solidFill>
                <a:ea typeface="Calibri" pitchFamily="34" charset="-122"/>
                <a:cs typeface="Calibri" pitchFamily="34" charset="-120"/>
              </a:rPr>
              <a:t>F1's verbose stream contains every fact F2/F3 reports. All information needed by the operator to catch automation failure is equally present in F1, F2, and F3.</a:t>
            </a:r>
          </a:p>
        </p:txBody>
      </p:sp>
      <p:sp>
        <p:nvSpPr>
          <p:cNvPr id="60" name="Shape 16">
            <a:extLst>
              <a:ext uri="{FF2B5EF4-FFF2-40B4-BE49-F238E27FC236}">
                <a16:creationId xmlns:a16="http://schemas.microsoft.com/office/drawing/2014/main" id="{03255E86-004F-D00E-426A-757D736D276B}"/>
              </a:ext>
            </a:extLst>
          </p:cNvPr>
          <p:cNvSpPr/>
          <p:nvPr/>
        </p:nvSpPr>
        <p:spPr>
          <a:xfrm>
            <a:off x="6405254" y="1987518"/>
            <a:ext cx="1014984" cy="502920"/>
          </a:xfrm>
          <a:prstGeom prst="rect">
            <a:avLst/>
          </a:prstGeom>
          <a:solidFill>
            <a:srgbClr val="F4F6F8"/>
          </a:solidFill>
          <a:ln w="6350">
            <a:solidFill>
              <a:srgbClr val="C9D2D9"/>
            </a:solidFill>
            <a:prstDash val="solid"/>
          </a:ln>
        </p:spPr>
      </p:sp>
      <p:sp>
        <p:nvSpPr>
          <p:cNvPr id="61" name="Text 17">
            <a:extLst>
              <a:ext uri="{FF2B5EF4-FFF2-40B4-BE49-F238E27FC236}">
                <a16:creationId xmlns:a16="http://schemas.microsoft.com/office/drawing/2014/main" id="{6A8FDFFC-38ED-4D98-96D4-138055D50532}"/>
              </a:ext>
            </a:extLst>
          </p:cNvPr>
          <p:cNvSpPr/>
          <p:nvPr/>
        </p:nvSpPr>
        <p:spPr>
          <a:xfrm>
            <a:off x="6405254" y="2033238"/>
            <a:ext cx="1014984" cy="411480"/>
          </a:xfrm>
          <a:prstGeom prst="rect">
            <a:avLst/>
          </a:prstGeom>
          <a:noFill/>
          <a:ln/>
        </p:spPr>
        <p:txBody>
          <a:bodyPr wrap="square" lIns="0" tIns="0" rIns="0" bIns="0" rtlCol="0" anchor="ctr"/>
          <a:lstStyle/>
          <a:p>
            <a:pPr marL="0" indent="0" algn="ctr">
              <a:buNone/>
            </a:pPr>
            <a:r>
              <a:rPr lang="en-US" sz="1100" b="1" dirty="0">
                <a:solidFill>
                  <a:srgbClr val="143847"/>
                </a:solidFill>
                <a:latin typeface="Calibri" pitchFamily="34" charset="0"/>
                <a:ea typeface="Calibri" pitchFamily="34" charset="-122"/>
                <a:cs typeface="Calibri" pitchFamily="34" charset="-120"/>
              </a:rPr>
              <a:t>Practice</a:t>
            </a:r>
            <a:endParaRPr lang="en-US" sz="1100" dirty="0"/>
          </a:p>
        </p:txBody>
      </p:sp>
      <p:sp>
        <p:nvSpPr>
          <p:cNvPr id="62" name="Shape 18">
            <a:extLst>
              <a:ext uri="{FF2B5EF4-FFF2-40B4-BE49-F238E27FC236}">
                <a16:creationId xmlns:a16="http://schemas.microsoft.com/office/drawing/2014/main" id="{3BFCC1D3-E18E-E866-7C4F-D20DC5AEC3D1}"/>
              </a:ext>
            </a:extLst>
          </p:cNvPr>
          <p:cNvSpPr/>
          <p:nvPr/>
        </p:nvSpPr>
        <p:spPr>
          <a:xfrm>
            <a:off x="7511678" y="1987518"/>
            <a:ext cx="1014984" cy="502920"/>
          </a:xfrm>
          <a:prstGeom prst="rect">
            <a:avLst/>
          </a:prstGeom>
          <a:solidFill>
            <a:srgbClr val="143847"/>
          </a:solidFill>
          <a:ln w="6350">
            <a:solidFill>
              <a:srgbClr val="C9D2D9"/>
            </a:solidFill>
            <a:prstDash val="solid"/>
          </a:ln>
        </p:spPr>
      </p:sp>
      <p:sp>
        <p:nvSpPr>
          <p:cNvPr id="63" name="Text 19">
            <a:extLst>
              <a:ext uri="{FF2B5EF4-FFF2-40B4-BE49-F238E27FC236}">
                <a16:creationId xmlns:a16="http://schemas.microsoft.com/office/drawing/2014/main" id="{30C48C8F-66EE-6431-4113-3BABA12B343E}"/>
              </a:ext>
            </a:extLst>
          </p:cNvPr>
          <p:cNvSpPr/>
          <p:nvPr/>
        </p:nvSpPr>
        <p:spPr>
          <a:xfrm>
            <a:off x="7511678" y="2033238"/>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1</a:t>
            </a:r>
            <a:endParaRPr lang="en-US" sz="1100" dirty="0"/>
          </a:p>
        </p:txBody>
      </p:sp>
      <p:sp>
        <p:nvSpPr>
          <p:cNvPr id="64" name="Shape 20">
            <a:extLst>
              <a:ext uri="{FF2B5EF4-FFF2-40B4-BE49-F238E27FC236}">
                <a16:creationId xmlns:a16="http://schemas.microsoft.com/office/drawing/2014/main" id="{090E7CDB-D40C-8343-5508-F3C6776457A5}"/>
              </a:ext>
            </a:extLst>
          </p:cNvPr>
          <p:cNvSpPr/>
          <p:nvPr/>
        </p:nvSpPr>
        <p:spPr>
          <a:xfrm>
            <a:off x="8572382" y="1987518"/>
            <a:ext cx="1014984" cy="502920"/>
          </a:xfrm>
          <a:prstGeom prst="rect">
            <a:avLst/>
          </a:prstGeom>
          <a:solidFill>
            <a:srgbClr val="143847"/>
          </a:solidFill>
          <a:ln w="6350">
            <a:solidFill>
              <a:srgbClr val="C9D2D9"/>
            </a:solidFill>
            <a:prstDash val="solid"/>
          </a:ln>
        </p:spPr>
      </p:sp>
      <p:sp>
        <p:nvSpPr>
          <p:cNvPr id="65" name="Text 21">
            <a:extLst>
              <a:ext uri="{FF2B5EF4-FFF2-40B4-BE49-F238E27FC236}">
                <a16:creationId xmlns:a16="http://schemas.microsoft.com/office/drawing/2014/main" id="{1864FCEC-C44E-4AFB-A031-82F5DB42E059}"/>
              </a:ext>
            </a:extLst>
          </p:cNvPr>
          <p:cNvSpPr/>
          <p:nvPr/>
        </p:nvSpPr>
        <p:spPr>
          <a:xfrm>
            <a:off x="8572382" y="2033238"/>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2</a:t>
            </a:r>
            <a:endParaRPr lang="en-US" sz="1100" dirty="0"/>
          </a:p>
        </p:txBody>
      </p:sp>
      <p:sp>
        <p:nvSpPr>
          <p:cNvPr id="66" name="Shape 22">
            <a:extLst>
              <a:ext uri="{FF2B5EF4-FFF2-40B4-BE49-F238E27FC236}">
                <a16:creationId xmlns:a16="http://schemas.microsoft.com/office/drawing/2014/main" id="{D78A7BB8-67C8-6B55-A6B0-C3C0E71C5B6C}"/>
              </a:ext>
            </a:extLst>
          </p:cNvPr>
          <p:cNvSpPr/>
          <p:nvPr/>
        </p:nvSpPr>
        <p:spPr>
          <a:xfrm>
            <a:off x="9633086" y="1987518"/>
            <a:ext cx="1014984" cy="502920"/>
          </a:xfrm>
          <a:prstGeom prst="rect">
            <a:avLst/>
          </a:prstGeom>
          <a:solidFill>
            <a:srgbClr val="143847"/>
          </a:solidFill>
          <a:ln w="6350">
            <a:solidFill>
              <a:srgbClr val="C9D2D9"/>
            </a:solidFill>
            <a:prstDash val="solid"/>
          </a:ln>
        </p:spPr>
      </p:sp>
      <p:sp>
        <p:nvSpPr>
          <p:cNvPr id="67" name="Text 23">
            <a:extLst>
              <a:ext uri="{FF2B5EF4-FFF2-40B4-BE49-F238E27FC236}">
                <a16:creationId xmlns:a16="http://schemas.microsoft.com/office/drawing/2014/main" id="{13BEB501-75EB-351F-B572-49E2F4625BCF}"/>
              </a:ext>
            </a:extLst>
          </p:cNvPr>
          <p:cNvSpPr/>
          <p:nvPr/>
        </p:nvSpPr>
        <p:spPr>
          <a:xfrm>
            <a:off x="9633086" y="2033238"/>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3</a:t>
            </a:r>
            <a:endParaRPr lang="en-US" sz="1100" dirty="0"/>
          </a:p>
        </p:txBody>
      </p:sp>
      <p:sp>
        <p:nvSpPr>
          <p:cNvPr id="68" name="Shape 24">
            <a:extLst>
              <a:ext uri="{FF2B5EF4-FFF2-40B4-BE49-F238E27FC236}">
                <a16:creationId xmlns:a16="http://schemas.microsoft.com/office/drawing/2014/main" id="{E4FE43D8-936C-FA6B-CDB8-5000D7D4F9B6}"/>
              </a:ext>
            </a:extLst>
          </p:cNvPr>
          <p:cNvSpPr/>
          <p:nvPr/>
        </p:nvSpPr>
        <p:spPr>
          <a:xfrm>
            <a:off x="10693790" y="1987518"/>
            <a:ext cx="1014984" cy="502920"/>
          </a:xfrm>
          <a:prstGeom prst="rect">
            <a:avLst/>
          </a:prstGeom>
          <a:solidFill>
            <a:srgbClr val="F4F6F8"/>
          </a:solidFill>
          <a:ln w="6350">
            <a:solidFill>
              <a:srgbClr val="C9D2D9"/>
            </a:solidFill>
            <a:prstDash val="solid"/>
          </a:ln>
        </p:spPr>
      </p:sp>
      <p:sp>
        <p:nvSpPr>
          <p:cNvPr id="69" name="Text 25">
            <a:extLst>
              <a:ext uri="{FF2B5EF4-FFF2-40B4-BE49-F238E27FC236}">
                <a16:creationId xmlns:a16="http://schemas.microsoft.com/office/drawing/2014/main" id="{D2B0EA86-D810-1F6C-5CDC-B3FA21721168}"/>
              </a:ext>
            </a:extLst>
          </p:cNvPr>
          <p:cNvSpPr/>
          <p:nvPr/>
        </p:nvSpPr>
        <p:spPr>
          <a:xfrm>
            <a:off x="10693790" y="2033238"/>
            <a:ext cx="1014984" cy="411480"/>
          </a:xfrm>
          <a:prstGeom prst="rect">
            <a:avLst/>
          </a:prstGeom>
          <a:noFill/>
          <a:ln/>
        </p:spPr>
        <p:txBody>
          <a:bodyPr wrap="square" lIns="0" tIns="0" rIns="0" bIns="0" rtlCol="0" anchor="ctr"/>
          <a:lstStyle/>
          <a:p>
            <a:pPr marL="0" indent="0" algn="ctr">
              <a:buNone/>
            </a:pPr>
            <a:r>
              <a:rPr lang="en-US" sz="1100" b="1" dirty="0">
                <a:solidFill>
                  <a:srgbClr val="143847"/>
                </a:solidFill>
                <a:latin typeface="Calibri" pitchFamily="34" charset="0"/>
                <a:ea typeface="Calibri" pitchFamily="34" charset="-122"/>
                <a:cs typeface="Calibri" pitchFamily="34" charset="-120"/>
              </a:rPr>
              <a:t>Debrief</a:t>
            </a:r>
            <a:endParaRPr lang="en-US" sz="1100" dirty="0"/>
          </a:p>
        </p:txBody>
      </p:sp>
      <p:sp>
        <p:nvSpPr>
          <p:cNvPr id="70" name="Text 26">
            <a:extLst>
              <a:ext uri="{FF2B5EF4-FFF2-40B4-BE49-F238E27FC236}">
                <a16:creationId xmlns:a16="http://schemas.microsoft.com/office/drawing/2014/main" id="{0391BB20-FA1F-34F1-0686-DE1B0A7DAB74}"/>
              </a:ext>
            </a:extLst>
          </p:cNvPr>
          <p:cNvSpPr/>
          <p:nvPr/>
        </p:nvSpPr>
        <p:spPr>
          <a:xfrm>
            <a:off x="6405254" y="2581878"/>
            <a:ext cx="5486400" cy="228600"/>
          </a:xfrm>
          <a:prstGeom prst="rect">
            <a:avLst/>
          </a:prstGeom>
          <a:noFill/>
          <a:ln/>
        </p:spPr>
        <p:txBody>
          <a:bodyPr wrap="square" lIns="0" tIns="0" rIns="0" bIns="0" rtlCol="0" anchor="ctr"/>
          <a:lstStyle/>
          <a:p>
            <a:pPr marL="0" indent="0" algn="ctr">
              <a:buNone/>
            </a:pPr>
            <a:r>
              <a:rPr lang="en-US" sz="900" i="1" dirty="0">
                <a:solidFill>
                  <a:srgbClr val="5A6770"/>
                </a:solidFill>
                <a:latin typeface="Calibri" pitchFamily="34" charset="0"/>
                <a:ea typeface="Calibri" pitchFamily="34" charset="-122"/>
                <a:cs typeface="Calibri" pitchFamily="34" charset="-120"/>
              </a:rPr>
              <a:t>3 min        →        5 min        →        5 min        →        5 min        →        questionnaires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6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Measures &amp; Considerations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Each measure maps onto a specific hypothesis.</a:t>
            </a:r>
            <a:endParaRPr lang="en-US" sz="1300" dirty="0"/>
          </a:p>
        </p:txBody>
      </p:sp>
      <p:sp>
        <p:nvSpPr>
          <p:cNvPr id="13" name="Shape 11"/>
          <p:cNvSpPr/>
          <p:nvPr/>
        </p:nvSpPr>
        <p:spPr>
          <a:xfrm>
            <a:off x="411480" y="1728748"/>
            <a:ext cx="5592928" cy="1234440"/>
          </a:xfrm>
          <a:prstGeom prst="rect">
            <a:avLst/>
          </a:prstGeom>
          <a:solidFill>
            <a:srgbClr val="FFFFFF"/>
          </a:solidFill>
          <a:ln w="9525">
            <a:solidFill>
              <a:srgbClr val="C9D2D9"/>
            </a:solidFill>
            <a:prstDash val="solid"/>
          </a:ln>
        </p:spPr>
      </p:sp>
      <p:sp>
        <p:nvSpPr>
          <p:cNvPr id="14" name="Shape 12"/>
          <p:cNvSpPr/>
          <p:nvPr/>
        </p:nvSpPr>
        <p:spPr>
          <a:xfrm>
            <a:off x="411480" y="1728748"/>
            <a:ext cx="73152" cy="1234440"/>
          </a:xfrm>
          <a:prstGeom prst="rect">
            <a:avLst/>
          </a:prstGeom>
          <a:solidFill>
            <a:srgbClr val="143847"/>
          </a:solidFill>
          <a:ln w="12700">
            <a:solidFill>
              <a:srgbClr val="143847"/>
            </a:solidFill>
            <a:prstDash val="solid"/>
          </a:ln>
        </p:spPr>
      </p:sp>
      <p:sp>
        <p:nvSpPr>
          <p:cNvPr id="15" name="Text 13"/>
          <p:cNvSpPr/>
          <p:nvPr/>
        </p:nvSpPr>
        <p:spPr>
          <a:xfrm>
            <a:off x="576072" y="1801900"/>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Mental-model probe</a:t>
            </a:r>
            <a:endParaRPr lang="en-US" sz="1200" dirty="0"/>
          </a:p>
        </p:txBody>
      </p:sp>
      <p:sp>
        <p:nvSpPr>
          <p:cNvPr id="16" name="Shape 14"/>
          <p:cNvSpPr/>
          <p:nvPr/>
        </p:nvSpPr>
        <p:spPr>
          <a:xfrm>
            <a:off x="4952848" y="1820188"/>
            <a:ext cx="868680" cy="237744"/>
          </a:xfrm>
          <a:prstGeom prst="rect">
            <a:avLst/>
          </a:prstGeom>
          <a:solidFill>
            <a:srgbClr val="143847"/>
          </a:solidFill>
          <a:ln w="12700">
            <a:solidFill>
              <a:srgbClr val="143847"/>
            </a:solidFill>
            <a:prstDash val="solid"/>
          </a:ln>
        </p:spPr>
      </p:sp>
      <p:sp>
        <p:nvSpPr>
          <p:cNvPr id="17" name="Text 15"/>
          <p:cNvSpPr/>
          <p:nvPr/>
        </p:nvSpPr>
        <p:spPr>
          <a:xfrm>
            <a:off x="4952848" y="1829332"/>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 H2</a:t>
            </a:r>
            <a:endParaRPr lang="en-US" sz="1000" dirty="0"/>
          </a:p>
        </p:txBody>
      </p:sp>
      <p:sp>
        <p:nvSpPr>
          <p:cNvPr id="18" name="Text 16"/>
          <p:cNvSpPr/>
          <p:nvPr/>
        </p:nvSpPr>
        <p:spPr>
          <a:xfrm>
            <a:off x="576072" y="2057932"/>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19" name="Text 17"/>
          <p:cNvSpPr/>
          <p:nvPr/>
        </p:nvSpPr>
        <p:spPr>
          <a:xfrm>
            <a:off x="576072" y="2259100"/>
            <a:ext cx="5318608" cy="6400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Five short slider questions on what the participant believes the aid actually did (e.g., "how many gauges did it act on?", "how often did it skip a gauge that needed attention?"). Compared against the scenario ground truth — an objective explicability score.</a:t>
            </a:r>
            <a:endParaRPr lang="en-US" sz="1050" dirty="0"/>
          </a:p>
        </p:txBody>
      </p:sp>
      <p:sp>
        <p:nvSpPr>
          <p:cNvPr id="20" name="Shape 18"/>
          <p:cNvSpPr/>
          <p:nvPr/>
        </p:nvSpPr>
        <p:spPr>
          <a:xfrm>
            <a:off x="6187288" y="1728748"/>
            <a:ext cx="5592928" cy="1234440"/>
          </a:xfrm>
          <a:prstGeom prst="rect">
            <a:avLst/>
          </a:prstGeom>
          <a:solidFill>
            <a:srgbClr val="FFFFFF"/>
          </a:solidFill>
          <a:ln w="9525">
            <a:solidFill>
              <a:srgbClr val="C9D2D9"/>
            </a:solidFill>
            <a:prstDash val="solid"/>
          </a:ln>
        </p:spPr>
      </p:sp>
      <p:sp>
        <p:nvSpPr>
          <p:cNvPr id="21" name="Shape 19"/>
          <p:cNvSpPr/>
          <p:nvPr/>
        </p:nvSpPr>
        <p:spPr>
          <a:xfrm>
            <a:off x="6187288" y="1728748"/>
            <a:ext cx="73152" cy="1234440"/>
          </a:xfrm>
          <a:prstGeom prst="rect">
            <a:avLst/>
          </a:prstGeom>
          <a:solidFill>
            <a:srgbClr val="143847"/>
          </a:solidFill>
          <a:ln w="12700">
            <a:solidFill>
              <a:srgbClr val="143847"/>
            </a:solidFill>
            <a:prstDash val="solid"/>
          </a:ln>
        </p:spPr>
      </p:sp>
      <p:sp>
        <p:nvSpPr>
          <p:cNvPr id="22" name="Text 20"/>
          <p:cNvSpPr/>
          <p:nvPr/>
        </p:nvSpPr>
        <p:spPr>
          <a:xfrm>
            <a:off x="6351880" y="1801900"/>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Subjective transparency</a:t>
            </a:r>
            <a:endParaRPr lang="en-US" sz="1200" dirty="0"/>
          </a:p>
        </p:txBody>
      </p:sp>
      <p:sp>
        <p:nvSpPr>
          <p:cNvPr id="23" name="Shape 21"/>
          <p:cNvSpPr/>
          <p:nvPr/>
        </p:nvSpPr>
        <p:spPr>
          <a:xfrm>
            <a:off x="10728655" y="1820188"/>
            <a:ext cx="868680" cy="237744"/>
          </a:xfrm>
          <a:prstGeom prst="rect">
            <a:avLst/>
          </a:prstGeom>
          <a:solidFill>
            <a:srgbClr val="143847"/>
          </a:solidFill>
          <a:ln w="12700">
            <a:solidFill>
              <a:srgbClr val="143847"/>
            </a:solidFill>
            <a:prstDash val="solid"/>
          </a:ln>
        </p:spPr>
      </p:sp>
      <p:sp>
        <p:nvSpPr>
          <p:cNvPr id="24" name="Text 22"/>
          <p:cNvSpPr/>
          <p:nvPr/>
        </p:nvSpPr>
        <p:spPr>
          <a:xfrm>
            <a:off x="10728655" y="1829332"/>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a:t>
            </a:r>
            <a:endParaRPr lang="en-US" sz="1000" dirty="0"/>
          </a:p>
        </p:txBody>
      </p:sp>
      <p:sp>
        <p:nvSpPr>
          <p:cNvPr id="25" name="Text 23"/>
          <p:cNvSpPr/>
          <p:nvPr/>
        </p:nvSpPr>
        <p:spPr>
          <a:xfrm>
            <a:off x="6351880" y="2057932"/>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26" name="Text 24"/>
          <p:cNvSpPr/>
          <p:nvPr/>
        </p:nvSpPr>
        <p:spPr>
          <a:xfrm>
            <a:off x="6351880" y="2259100"/>
            <a:ext cx="5318608" cy="6400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Three ratings: "the system told me what it was doing", "I understood why the system acted or did not act", "the amount of information felt about right". Captures the feeling of being informed — paired with the probe to test the H1 dissociation.</a:t>
            </a:r>
            <a:endParaRPr lang="en-US" sz="1050" dirty="0"/>
          </a:p>
        </p:txBody>
      </p:sp>
      <p:sp>
        <p:nvSpPr>
          <p:cNvPr id="27" name="Shape 25"/>
          <p:cNvSpPr/>
          <p:nvPr/>
        </p:nvSpPr>
        <p:spPr>
          <a:xfrm>
            <a:off x="411480" y="3054628"/>
            <a:ext cx="5592928" cy="881388"/>
          </a:xfrm>
          <a:prstGeom prst="rect">
            <a:avLst/>
          </a:prstGeom>
          <a:solidFill>
            <a:srgbClr val="FFFFFF"/>
          </a:solidFill>
          <a:ln w="9525">
            <a:solidFill>
              <a:srgbClr val="C9D2D9"/>
            </a:solidFill>
            <a:prstDash val="solid"/>
          </a:ln>
        </p:spPr>
      </p:sp>
      <p:sp>
        <p:nvSpPr>
          <p:cNvPr id="28" name="Shape 26"/>
          <p:cNvSpPr/>
          <p:nvPr/>
        </p:nvSpPr>
        <p:spPr>
          <a:xfrm>
            <a:off x="411480" y="3054628"/>
            <a:ext cx="73152" cy="890532"/>
          </a:xfrm>
          <a:prstGeom prst="rect">
            <a:avLst/>
          </a:prstGeom>
          <a:solidFill>
            <a:srgbClr val="143847"/>
          </a:solidFill>
          <a:ln w="12700">
            <a:solidFill>
              <a:srgbClr val="143847"/>
            </a:solidFill>
            <a:prstDash val="solid"/>
          </a:ln>
        </p:spPr>
      </p:sp>
      <p:sp>
        <p:nvSpPr>
          <p:cNvPr id="29" name="Text 27"/>
          <p:cNvSpPr/>
          <p:nvPr/>
        </p:nvSpPr>
        <p:spPr>
          <a:xfrm>
            <a:off x="576072" y="3127780"/>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Detection of automation misses</a:t>
            </a:r>
            <a:endParaRPr lang="en-US" sz="1200" dirty="0"/>
          </a:p>
        </p:txBody>
      </p:sp>
      <p:sp>
        <p:nvSpPr>
          <p:cNvPr id="30" name="Shape 28"/>
          <p:cNvSpPr/>
          <p:nvPr/>
        </p:nvSpPr>
        <p:spPr>
          <a:xfrm>
            <a:off x="4952848" y="3146068"/>
            <a:ext cx="868680" cy="237744"/>
          </a:xfrm>
          <a:prstGeom prst="rect">
            <a:avLst/>
          </a:prstGeom>
          <a:solidFill>
            <a:srgbClr val="143847"/>
          </a:solidFill>
          <a:ln w="12700">
            <a:solidFill>
              <a:srgbClr val="143847"/>
            </a:solidFill>
            <a:prstDash val="solid"/>
          </a:ln>
        </p:spPr>
      </p:sp>
      <p:sp>
        <p:nvSpPr>
          <p:cNvPr id="31" name="Text 29"/>
          <p:cNvSpPr/>
          <p:nvPr/>
        </p:nvSpPr>
        <p:spPr>
          <a:xfrm>
            <a:off x="4952848" y="3155212"/>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H3</a:t>
            </a:r>
            <a:endParaRPr lang="en-US" sz="1000" dirty="0"/>
          </a:p>
        </p:txBody>
      </p:sp>
      <p:sp>
        <p:nvSpPr>
          <p:cNvPr id="32" name="Text 30"/>
          <p:cNvSpPr/>
          <p:nvPr/>
        </p:nvSpPr>
        <p:spPr>
          <a:xfrm>
            <a:off x="576072" y="3383812"/>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33" name="Text 31"/>
          <p:cNvSpPr/>
          <p:nvPr/>
        </p:nvSpPr>
        <p:spPr>
          <a:xfrm>
            <a:off x="576072" y="3584980"/>
            <a:ext cx="5318608" cy="3601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Whenever the aid skips an event, the participant should catch it manually. We record hit/miss and reaction time.</a:t>
            </a:r>
            <a:endParaRPr lang="en-US" sz="1050" dirty="0"/>
          </a:p>
        </p:txBody>
      </p:sp>
      <p:sp>
        <p:nvSpPr>
          <p:cNvPr id="34" name="Shape 32"/>
          <p:cNvSpPr/>
          <p:nvPr/>
        </p:nvSpPr>
        <p:spPr>
          <a:xfrm>
            <a:off x="6188611" y="3068236"/>
            <a:ext cx="5592928" cy="881388"/>
          </a:xfrm>
          <a:prstGeom prst="rect">
            <a:avLst/>
          </a:prstGeom>
          <a:solidFill>
            <a:srgbClr val="FFFFFF"/>
          </a:solidFill>
          <a:ln w="9525">
            <a:solidFill>
              <a:srgbClr val="C9D2D9"/>
            </a:solidFill>
            <a:prstDash val="solid"/>
          </a:ln>
        </p:spPr>
        <p:txBody>
          <a:bodyPr/>
          <a:lstStyle/>
          <a:p>
            <a:endParaRPr lang="de-DE" dirty="0"/>
          </a:p>
        </p:txBody>
      </p:sp>
      <p:sp>
        <p:nvSpPr>
          <p:cNvPr id="35" name="Shape 33"/>
          <p:cNvSpPr/>
          <p:nvPr/>
        </p:nvSpPr>
        <p:spPr>
          <a:xfrm>
            <a:off x="6187288" y="3067880"/>
            <a:ext cx="73152" cy="881388"/>
          </a:xfrm>
          <a:prstGeom prst="rect">
            <a:avLst/>
          </a:prstGeom>
          <a:solidFill>
            <a:srgbClr val="143847"/>
          </a:solidFill>
          <a:ln w="12700">
            <a:solidFill>
              <a:srgbClr val="143847"/>
            </a:solidFill>
            <a:prstDash val="solid"/>
          </a:ln>
        </p:spPr>
      </p:sp>
      <p:sp>
        <p:nvSpPr>
          <p:cNvPr id="36" name="Text 34"/>
          <p:cNvSpPr/>
          <p:nvPr/>
        </p:nvSpPr>
        <p:spPr>
          <a:xfrm>
            <a:off x="6351880" y="314103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Subjective trust</a:t>
            </a:r>
            <a:endParaRPr lang="en-US" sz="1200" dirty="0"/>
          </a:p>
        </p:txBody>
      </p:sp>
      <p:sp>
        <p:nvSpPr>
          <p:cNvPr id="37" name="Shape 35"/>
          <p:cNvSpPr/>
          <p:nvPr/>
        </p:nvSpPr>
        <p:spPr>
          <a:xfrm>
            <a:off x="10728655" y="3192450"/>
            <a:ext cx="868680" cy="237744"/>
          </a:xfrm>
          <a:prstGeom prst="rect">
            <a:avLst/>
          </a:prstGeom>
          <a:solidFill>
            <a:srgbClr val="143847"/>
          </a:solidFill>
          <a:ln w="12700">
            <a:solidFill>
              <a:srgbClr val="143847"/>
            </a:solidFill>
            <a:prstDash val="solid"/>
          </a:ln>
        </p:spPr>
        <p:txBody>
          <a:bodyPr/>
          <a:lstStyle/>
          <a:p>
            <a:endParaRPr lang="de-DE" dirty="0"/>
          </a:p>
        </p:txBody>
      </p:sp>
      <p:sp>
        <p:nvSpPr>
          <p:cNvPr id="38" name="Text 36"/>
          <p:cNvSpPr/>
          <p:nvPr/>
        </p:nvSpPr>
        <p:spPr>
          <a:xfrm>
            <a:off x="10728655" y="3188342"/>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a:t>
            </a:r>
            <a:endParaRPr lang="en-US" sz="1000" dirty="0"/>
          </a:p>
        </p:txBody>
      </p:sp>
      <p:sp>
        <p:nvSpPr>
          <p:cNvPr id="39" name="Text 37"/>
          <p:cNvSpPr/>
          <p:nvPr/>
        </p:nvSpPr>
        <p:spPr>
          <a:xfrm>
            <a:off x="6351880" y="339706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40" name="Text 38"/>
          <p:cNvSpPr/>
          <p:nvPr/>
        </p:nvSpPr>
        <p:spPr>
          <a:xfrm>
            <a:off x="6351880" y="3598232"/>
            <a:ext cx="5318608" cy="360180"/>
          </a:xfrm>
          <a:prstGeom prst="rect">
            <a:avLst/>
          </a:prstGeom>
          <a:noFill/>
          <a:ln/>
        </p:spPr>
        <p:txBody>
          <a:bodyPr wrap="square" lIns="0" tIns="0" rIns="0" bIns="0" rtlCol="0" anchor="t"/>
          <a:lstStyle/>
          <a:p>
            <a:pPr algn="l">
              <a:buFont typeface="+mj-lt"/>
              <a:buAutoNum type="arabicPeriod"/>
            </a:pPr>
            <a:r>
              <a:rPr lang="en-US" sz="1050" dirty="0">
                <a:solidFill>
                  <a:srgbClr val="1A1A1A"/>
                </a:solidFill>
                <a:latin typeface="Calibri" pitchFamily="34" charset="0"/>
                <a:ea typeface="Calibri" pitchFamily="34" charset="-122"/>
                <a:cs typeface="Calibri" pitchFamily="34" charset="-120"/>
              </a:rPr>
              <a:t>Several rating like “</a:t>
            </a:r>
            <a:r>
              <a:rPr lang="en-US" sz="1050" b="0" i="0" dirty="0">
                <a:solidFill>
                  <a:srgbClr val="3B3B3B"/>
                </a:solidFill>
                <a:effectLst/>
                <a:latin typeface="-apple-system"/>
              </a:rPr>
              <a:t>The aid is </a:t>
            </a:r>
            <a:r>
              <a:rPr lang="en-US" sz="1050" i="0" dirty="0">
                <a:solidFill>
                  <a:srgbClr val="3B3B3B"/>
                </a:solidFill>
                <a:effectLst/>
                <a:latin typeface="-apple-system"/>
              </a:rPr>
              <a:t>dependable</a:t>
            </a:r>
            <a:r>
              <a:rPr lang="en-US" sz="1050" b="0" i="0" dirty="0">
                <a:solidFill>
                  <a:srgbClr val="3B3B3B"/>
                </a:solidFill>
                <a:effectLst/>
                <a:latin typeface="-apple-system"/>
              </a:rPr>
              <a:t>.”, “The aid is </a:t>
            </a:r>
            <a:r>
              <a:rPr lang="en-US" sz="1050" i="0" dirty="0">
                <a:solidFill>
                  <a:srgbClr val="3B3B3B"/>
                </a:solidFill>
                <a:effectLst/>
                <a:latin typeface="-apple-system"/>
              </a:rPr>
              <a:t>reliable</a:t>
            </a:r>
            <a:r>
              <a:rPr lang="en-US" sz="1050" b="0" i="0" dirty="0">
                <a:solidFill>
                  <a:srgbClr val="3B3B3B"/>
                </a:solidFill>
                <a:effectLst/>
                <a:latin typeface="-apple-system"/>
              </a:rPr>
              <a:t>.”, “I am </a:t>
            </a:r>
            <a:r>
              <a:rPr lang="en-US" sz="1050" i="0" dirty="0">
                <a:solidFill>
                  <a:srgbClr val="3B3B3B"/>
                </a:solidFill>
                <a:effectLst/>
                <a:latin typeface="-apple-system"/>
              </a:rPr>
              <a:t>confident</a:t>
            </a:r>
            <a:r>
              <a:rPr lang="en-US" sz="1050" b="0" i="0" dirty="0">
                <a:solidFill>
                  <a:srgbClr val="3B3B3B"/>
                </a:solidFill>
                <a:effectLst/>
                <a:latin typeface="-apple-system"/>
              </a:rPr>
              <a:t> in the aid.”, … to capture subjective trust.</a:t>
            </a:r>
          </a:p>
          <a:p>
            <a:pPr marL="0" indent="0">
              <a:buNone/>
            </a:pPr>
            <a:endParaRPr lang="en-US" sz="1050" dirty="0"/>
          </a:p>
        </p:txBody>
      </p:sp>
      <p:sp>
        <p:nvSpPr>
          <p:cNvPr id="41" name="Shape 39"/>
          <p:cNvSpPr/>
          <p:nvPr/>
        </p:nvSpPr>
        <p:spPr>
          <a:xfrm>
            <a:off x="411480" y="5216708"/>
            <a:ext cx="11368735" cy="1156920"/>
          </a:xfrm>
          <a:prstGeom prst="rect">
            <a:avLst/>
          </a:prstGeom>
          <a:solidFill>
            <a:srgbClr val="F4F6F8"/>
          </a:solidFill>
          <a:ln w="9525">
            <a:solidFill>
              <a:srgbClr val="C9D2D9"/>
            </a:solidFill>
            <a:prstDash val="solid"/>
          </a:ln>
        </p:spPr>
        <p:txBody>
          <a:bodyPr/>
          <a:lstStyle/>
          <a:p>
            <a:endParaRPr lang="de-DE" dirty="0"/>
          </a:p>
        </p:txBody>
      </p:sp>
      <p:sp>
        <p:nvSpPr>
          <p:cNvPr id="42" name="Shape 40"/>
          <p:cNvSpPr/>
          <p:nvPr/>
        </p:nvSpPr>
        <p:spPr>
          <a:xfrm>
            <a:off x="411480" y="5216708"/>
            <a:ext cx="73152" cy="1156920"/>
          </a:xfrm>
          <a:prstGeom prst="rect">
            <a:avLst/>
          </a:prstGeom>
          <a:solidFill>
            <a:srgbClr val="8C1D2C"/>
          </a:solidFill>
          <a:ln w="12700">
            <a:solidFill>
              <a:srgbClr val="8C1D2C"/>
            </a:solidFill>
            <a:prstDash val="solid"/>
          </a:ln>
        </p:spPr>
      </p:sp>
      <p:sp>
        <p:nvSpPr>
          <p:cNvPr id="43" name="Text 41"/>
          <p:cNvSpPr/>
          <p:nvPr/>
        </p:nvSpPr>
        <p:spPr>
          <a:xfrm>
            <a:off x="571500" y="5216708"/>
            <a:ext cx="11140135" cy="274320"/>
          </a:xfrm>
          <a:prstGeom prst="rect">
            <a:avLst/>
          </a:prstGeom>
          <a:noFill/>
          <a:ln/>
        </p:spPr>
        <p:txBody>
          <a:bodyPr wrap="square" lIns="0" tIns="0" rIns="0" bIns="0" rtlCol="0" anchor="ctr"/>
          <a:lstStyle/>
          <a:p>
            <a:pPr marL="0" indent="0">
              <a:buNone/>
            </a:pPr>
            <a:r>
              <a:rPr lang="en-US" sz="1200" b="1" dirty="0">
                <a:solidFill>
                  <a:srgbClr val="8C1D2C"/>
                </a:solidFill>
                <a:latin typeface="Calibri" pitchFamily="34" charset="0"/>
                <a:ea typeface="Calibri" pitchFamily="34" charset="-122"/>
                <a:cs typeface="Calibri" pitchFamily="34" charset="-120"/>
              </a:rPr>
              <a:t>Considerations &amp;Limits</a:t>
            </a:r>
            <a:endParaRPr lang="en-US" sz="1200" dirty="0"/>
          </a:p>
        </p:txBody>
      </p:sp>
      <p:sp>
        <p:nvSpPr>
          <p:cNvPr id="44" name="Text 42"/>
          <p:cNvSpPr/>
          <p:nvPr/>
        </p:nvSpPr>
        <p:spPr>
          <a:xfrm>
            <a:off x="576072" y="5523496"/>
            <a:ext cx="11140135" cy="795268"/>
          </a:xfrm>
          <a:prstGeom prst="rect">
            <a:avLst/>
          </a:prstGeom>
          <a:noFill/>
          <a:ln/>
        </p:spPr>
        <p:txBody>
          <a:bodyPr wrap="square" lIns="0" tIns="0" rIns="0" bIns="0" rtlCol="0" anchor="t"/>
          <a:lstStyle/>
          <a:p>
            <a:pPr marL="171450" indent="-171450">
              <a:spcAft>
                <a:spcPts val="200"/>
              </a:spcAft>
              <a:buFont typeface="Arial" panose="020B0604020202020204" pitchFamily="34" charset="0"/>
              <a:buChar char="•"/>
            </a:pPr>
            <a:r>
              <a:rPr lang="en-US" sz="1100" dirty="0">
                <a:solidFill>
                  <a:srgbClr val="1A1A1A"/>
                </a:solidFill>
                <a:latin typeface="Calibri" pitchFamily="34" charset="0"/>
                <a:ea typeface="Calibri" pitchFamily="34" charset="-122"/>
                <a:cs typeface="Calibri" pitchFamily="34" charset="-120"/>
              </a:rPr>
              <a:t>F1 → F2 changes three factors simultaneously (selectivity + contrastiveness + framing). Treated as a package-level test of "form", not as three isolated effects; F3 − F2 isolates the actionable cue.</a:t>
            </a:r>
            <a:endParaRPr lang="en-US" sz="1100" dirty="0"/>
          </a:p>
          <a:p>
            <a:pPr marL="171450" indent="-171450">
              <a:spcAft>
                <a:spcPts val="200"/>
              </a:spcAft>
              <a:buFont typeface="Arial" panose="020B0604020202020204" pitchFamily="34" charset="0"/>
              <a:buChar char="•"/>
            </a:pPr>
            <a:r>
              <a:rPr lang="en-US" sz="1100" dirty="0">
                <a:solidFill>
                  <a:srgbClr val="1A1A1A"/>
                </a:solidFill>
                <a:latin typeface="Calibri" pitchFamily="34" charset="0"/>
                <a:ea typeface="Calibri" pitchFamily="34" charset="-122"/>
                <a:cs typeface="Calibri" pitchFamily="34" charset="-120"/>
              </a:rPr>
              <a:t>Load is held at a single moderate level; generalisation across load levels cannot be done since the load level is held constant.</a:t>
            </a:r>
          </a:p>
          <a:p>
            <a:pPr marL="171450" indent="-171450">
              <a:spcAft>
                <a:spcPts val="200"/>
              </a:spcAft>
              <a:buFont typeface="Arial" panose="020B0604020202020204" pitchFamily="34" charset="0"/>
              <a:buChar char="•"/>
            </a:pPr>
            <a:r>
              <a:rPr lang="en-US" sz="1100" dirty="0">
                <a:solidFill>
                  <a:srgbClr val="1A1A1A"/>
                </a:solidFill>
                <a:latin typeface="Calibri" pitchFamily="34" charset="0"/>
                <a:ea typeface="Calibri" pitchFamily="34" charset="-122"/>
                <a:cs typeface="Calibri" pitchFamily="34" charset="-120"/>
              </a:rPr>
              <a:t>The number of automation aid misses is small (3) in the 5 min block. Reliable statistic on such small number is difficult.</a:t>
            </a:r>
          </a:p>
          <a:p>
            <a:pPr marL="171450" indent="-171450">
              <a:spcAft>
                <a:spcPts val="200"/>
              </a:spcAft>
              <a:buFont typeface="Arial" panose="020B0604020202020204" pitchFamily="34" charset="0"/>
              <a:buChar char="•"/>
            </a:pPr>
            <a:r>
              <a:rPr lang="en-US" sz="1100" dirty="0">
                <a:solidFill>
                  <a:srgbClr val="1A1A1A"/>
                </a:solidFill>
                <a:latin typeface="Calibri" pitchFamily="34" charset="0"/>
                <a:ea typeface="Calibri" pitchFamily="34" charset="-122"/>
                <a:cs typeface="Calibri" pitchFamily="34" charset="-120"/>
              </a:rPr>
              <a:t>The number of participants might be to low to see any effect with significance (Number of participants in the literature is at least 50-100).</a:t>
            </a:r>
          </a:p>
          <a:p>
            <a:pPr marL="171450" indent="-171450">
              <a:spcAft>
                <a:spcPts val="200"/>
              </a:spcAft>
              <a:buFont typeface="Arial" panose="020B0604020202020204" pitchFamily="34" charset="0"/>
              <a:buChar char="•"/>
            </a:pPr>
            <a:endParaRPr lang="en-US" sz="1100" dirty="0">
              <a:solidFill>
                <a:srgbClr val="1A1A1A"/>
              </a:solidFill>
              <a:latin typeface="Calibri" pitchFamily="34" charset="0"/>
              <a:ea typeface="Calibri" pitchFamily="34" charset="-122"/>
              <a:cs typeface="Calibri" pitchFamily="34" charset="-120"/>
            </a:endParaRPr>
          </a:p>
          <a:p>
            <a:pPr marL="171450" indent="-171450">
              <a:spcAft>
                <a:spcPts val="200"/>
              </a:spcAft>
              <a:buFont typeface="Arial" panose="020B0604020202020204" pitchFamily="34" charset="0"/>
              <a:buChar char="•"/>
            </a:pPr>
            <a:endParaRPr lang="en-US" sz="1100" dirty="0"/>
          </a:p>
        </p:txBody>
      </p:sp>
      <p:sp>
        <p:nvSpPr>
          <p:cNvPr id="45" name="Shape 25">
            <a:extLst>
              <a:ext uri="{FF2B5EF4-FFF2-40B4-BE49-F238E27FC236}">
                <a16:creationId xmlns:a16="http://schemas.microsoft.com/office/drawing/2014/main" id="{99C447DA-64F6-9732-7CE3-36A58AD49D20}"/>
              </a:ext>
            </a:extLst>
          </p:cNvPr>
          <p:cNvSpPr/>
          <p:nvPr/>
        </p:nvSpPr>
        <p:spPr>
          <a:xfrm>
            <a:off x="411480" y="4064032"/>
            <a:ext cx="5592928" cy="881388"/>
          </a:xfrm>
          <a:prstGeom prst="rect">
            <a:avLst/>
          </a:prstGeom>
          <a:solidFill>
            <a:srgbClr val="FFFFFF"/>
          </a:solidFill>
          <a:ln w="9525">
            <a:solidFill>
              <a:srgbClr val="C9D2D9"/>
            </a:solidFill>
            <a:prstDash val="solid"/>
          </a:ln>
        </p:spPr>
      </p:sp>
      <p:sp>
        <p:nvSpPr>
          <p:cNvPr id="46" name="Shape 26">
            <a:extLst>
              <a:ext uri="{FF2B5EF4-FFF2-40B4-BE49-F238E27FC236}">
                <a16:creationId xmlns:a16="http://schemas.microsoft.com/office/drawing/2014/main" id="{C54ADFFC-B13F-60CC-0062-7E355B108C72}"/>
              </a:ext>
            </a:extLst>
          </p:cNvPr>
          <p:cNvSpPr/>
          <p:nvPr/>
        </p:nvSpPr>
        <p:spPr>
          <a:xfrm>
            <a:off x="411480" y="4064032"/>
            <a:ext cx="73152" cy="890532"/>
          </a:xfrm>
          <a:prstGeom prst="rect">
            <a:avLst/>
          </a:prstGeom>
          <a:solidFill>
            <a:srgbClr val="143847"/>
          </a:solidFill>
          <a:ln w="12700">
            <a:solidFill>
              <a:srgbClr val="143847"/>
            </a:solidFill>
            <a:prstDash val="solid"/>
          </a:ln>
        </p:spPr>
      </p:sp>
      <p:sp>
        <p:nvSpPr>
          <p:cNvPr id="47" name="Text 27">
            <a:extLst>
              <a:ext uri="{FF2B5EF4-FFF2-40B4-BE49-F238E27FC236}">
                <a16:creationId xmlns:a16="http://schemas.microsoft.com/office/drawing/2014/main" id="{F42547AA-4F5D-2BCB-6159-5BA3693CED59}"/>
              </a:ext>
            </a:extLst>
          </p:cNvPr>
          <p:cNvSpPr/>
          <p:nvPr/>
        </p:nvSpPr>
        <p:spPr>
          <a:xfrm>
            <a:off x="576072" y="4137184"/>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Detection of automation aid overwrites</a:t>
            </a:r>
            <a:endParaRPr lang="en-US" sz="1200" dirty="0"/>
          </a:p>
        </p:txBody>
      </p:sp>
      <p:sp>
        <p:nvSpPr>
          <p:cNvPr id="48" name="Shape 28">
            <a:extLst>
              <a:ext uri="{FF2B5EF4-FFF2-40B4-BE49-F238E27FC236}">
                <a16:creationId xmlns:a16="http://schemas.microsoft.com/office/drawing/2014/main" id="{9A15BC7B-8947-66EA-2DAA-5847DE24B6B8}"/>
              </a:ext>
            </a:extLst>
          </p:cNvPr>
          <p:cNvSpPr/>
          <p:nvPr/>
        </p:nvSpPr>
        <p:spPr>
          <a:xfrm>
            <a:off x="4952848" y="4155472"/>
            <a:ext cx="868680" cy="237744"/>
          </a:xfrm>
          <a:prstGeom prst="rect">
            <a:avLst/>
          </a:prstGeom>
          <a:solidFill>
            <a:srgbClr val="143847"/>
          </a:solidFill>
          <a:ln w="12700">
            <a:solidFill>
              <a:srgbClr val="143847"/>
            </a:solidFill>
            <a:prstDash val="solid"/>
          </a:ln>
        </p:spPr>
      </p:sp>
      <p:sp>
        <p:nvSpPr>
          <p:cNvPr id="49" name="Text 29">
            <a:extLst>
              <a:ext uri="{FF2B5EF4-FFF2-40B4-BE49-F238E27FC236}">
                <a16:creationId xmlns:a16="http://schemas.microsoft.com/office/drawing/2014/main" id="{E624EB60-3DAB-B407-D16C-AE6F878AC49D}"/>
              </a:ext>
            </a:extLst>
          </p:cNvPr>
          <p:cNvSpPr/>
          <p:nvPr/>
        </p:nvSpPr>
        <p:spPr>
          <a:xfrm>
            <a:off x="4952848" y="4164616"/>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H3</a:t>
            </a:r>
            <a:endParaRPr lang="en-US" sz="1000" dirty="0"/>
          </a:p>
        </p:txBody>
      </p:sp>
      <p:sp>
        <p:nvSpPr>
          <p:cNvPr id="50" name="Text 30">
            <a:extLst>
              <a:ext uri="{FF2B5EF4-FFF2-40B4-BE49-F238E27FC236}">
                <a16:creationId xmlns:a16="http://schemas.microsoft.com/office/drawing/2014/main" id="{AB7D5820-663E-5810-A09A-8A9FC168AC4E}"/>
              </a:ext>
            </a:extLst>
          </p:cNvPr>
          <p:cNvSpPr/>
          <p:nvPr/>
        </p:nvSpPr>
        <p:spPr>
          <a:xfrm>
            <a:off x="576072" y="4393216"/>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51" name="Text 31">
            <a:extLst>
              <a:ext uri="{FF2B5EF4-FFF2-40B4-BE49-F238E27FC236}">
                <a16:creationId xmlns:a16="http://schemas.microsoft.com/office/drawing/2014/main" id="{08E071E0-5CF2-2F82-6247-9E3742CEACB1}"/>
              </a:ext>
            </a:extLst>
          </p:cNvPr>
          <p:cNvSpPr/>
          <p:nvPr/>
        </p:nvSpPr>
        <p:spPr>
          <a:xfrm>
            <a:off x="576072" y="4594384"/>
            <a:ext cx="5318608" cy="3601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Whenever the aid handles an event, the participant should not intervene. We this record interventions the user persons although the automation aid catches the event.</a:t>
            </a:r>
            <a:endParaRPr lang="en-US" sz="1050" dirty="0"/>
          </a:p>
        </p:txBody>
      </p:sp>
      <p:sp>
        <p:nvSpPr>
          <p:cNvPr id="52" name="Shape 32">
            <a:extLst>
              <a:ext uri="{FF2B5EF4-FFF2-40B4-BE49-F238E27FC236}">
                <a16:creationId xmlns:a16="http://schemas.microsoft.com/office/drawing/2014/main" id="{25BB157E-64B4-E872-D51E-CCAD61F59AA9}"/>
              </a:ext>
            </a:extLst>
          </p:cNvPr>
          <p:cNvSpPr/>
          <p:nvPr/>
        </p:nvSpPr>
        <p:spPr>
          <a:xfrm>
            <a:off x="6187290" y="4075046"/>
            <a:ext cx="5592928" cy="881388"/>
          </a:xfrm>
          <a:prstGeom prst="rect">
            <a:avLst/>
          </a:prstGeom>
          <a:solidFill>
            <a:srgbClr val="FFFFFF"/>
          </a:solidFill>
          <a:ln w="9525">
            <a:solidFill>
              <a:srgbClr val="C9D2D9"/>
            </a:solidFill>
            <a:prstDash val="solid"/>
          </a:ln>
        </p:spPr>
      </p:sp>
      <p:sp>
        <p:nvSpPr>
          <p:cNvPr id="53" name="Shape 33">
            <a:extLst>
              <a:ext uri="{FF2B5EF4-FFF2-40B4-BE49-F238E27FC236}">
                <a16:creationId xmlns:a16="http://schemas.microsoft.com/office/drawing/2014/main" id="{EC34306C-7E89-05B2-B5AF-FBA55BF3B6C7}"/>
              </a:ext>
            </a:extLst>
          </p:cNvPr>
          <p:cNvSpPr/>
          <p:nvPr/>
        </p:nvSpPr>
        <p:spPr>
          <a:xfrm>
            <a:off x="6187290" y="4075046"/>
            <a:ext cx="73152" cy="881388"/>
          </a:xfrm>
          <a:prstGeom prst="rect">
            <a:avLst/>
          </a:prstGeom>
          <a:solidFill>
            <a:srgbClr val="143847"/>
          </a:solidFill>
          <a:ln w="12700">
            <a:solidFill>
              <a:srgbClr val="143847"/>
            </a:solidFill>
            <a:prstDash val="solid"/>
          </a:ln>
        </p:spPr>
      </p:sp>
      <p:sp>
        <p:nvSpPr>
          <p:cNvPr id="54" name="Text 34">
            <a:extLst>
              <a:ext uri="{FF2B5EF4-FFF2-40B4-BE49-F238E27FC236}">
                <a16:creationId xmlns:a16="http://schemas.microsoft.com/office/drawing/2014/main" id="{C9C70177-BE3B-3824-C39D-D2A42BE0FFC1}"/>
              </a:ext>
            </a:extLst>
          </p:cNvPr>
          <p:cNvSpPr/>
          <p:nvPr/>
        </p:nvSpPr>
        <p:spPr>
          <a:xfrm>
            <a:off x="6351882" y="4148198"/>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Non-automated task performance</a:t>
            </a:r>
            <a:endParaRPr lang="en-US" sz="1200" dirty="0"/>
          </a:p>
        </p:txBody>
      </p:sp>
      <p:sp>
        <p:nvSpPr>
          <p:cNvPr id="55" name="Shape 35">
            <a:extLst>
              <a:ext uri="{FF2B5EF4-FFF2-40B4-BE49-F238E27FC236}">
                <a16:creationId xmlns:a16="http://schemas.microsoft.com/office/drawing/2014/main" id="{DC92547C-188D-694A-F08E-519F2DB088C1}"/>
              </a:ext>
            </a:extLst>
          </p:cNvPr>
          <p:cNvSpPr/>
          <p:nvPr/>
        </p:nvSpPr>
        <p:spPr>
          <a:xfrm>
            <a:off x="10728657" y="4166486"/>
            <a:ext cx="868680" cy="237744"/>
          </a:xfrm>
          <a:prstGeom prst="rect">
            <a:avLst/>
          </a:prstGeom>
          <a:solidFill>
            <a:srgbClr val="143847"/>
          </a:solidFill>
          <a:ln w="12700">
            <a:solidFill>
              <a:srgbClr val="143847"/>
            </a:solidFill>
            <a:prstDash val="solid"/>
          </a:ln>
        </p:spPr>
      </p:sp>
      <p:sp>
        <p:nvSpPr>
          <p:cNvPr id="56" name="Text 36">
            <a:extLst>
              <a:ext uri="{FF2B5EF4-FFF2-40B4-BE49-F238E27FC236}">
                <a16:creationId xmlns:a16="http://schemas.microsoft.com/office/drawing/2014/main" id="{8D4107B0-F636-A904-F217-82A6C260D2C2}"/>
              </a:ext>
            </a:extLst>
          </p:cNvPr>
          <p:cNvSpPr/>
          <p:nvPr/>
        </p:nvSpPr>
        <p:spPr>
          <a:xfrm>
            <a:off x="10728657" y="4175630"/>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H4</a:t>
            </a:r>
            <a:endParaRPr lang="en-US" sz="1000" dirty="0"/>
          </a:p>
        </p:txBody>
      </p:sp>
      <p:sp>
        <p:nvSpPr>
          <p:cNvPr id="57" name="Text 37">
            <a:extLst>
              <a:ext uri="{FF2B5EF4-FFF2-40B4-BE49-F238E27FC236}">
                <a16:creationId xmlns:a16="http://schemas.microsoft.com/office/drawing/2014/main" id="{6CE56A8E-1E24-F803-F044-1F1B0D3E1E20}"/>
              </a:ext>
            </a:extLst>
          </p:cNvPr>
          <p:cNvSpPr/>
          <p:nvPr/>
        </p:nvSpPr>
        <p:spPr>
          <a:xfrm>
            <a:off x="6351882" y="4404230"/>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58" name="Text 38">
            <a:extLst>
              <a:ext uri="{FF2B5EF4-FFF2-40B4-BE49-F238E27FC236}">
                <a16:creationId xmlns:a16="http://schemas.microsoft.com/office/drawing/2014/main" id="{C40C0D24-1132-3F73-F043-483109F3493C}"/>
              </a:ext>
            </a:extLst>
          </p:cNvPr>
          <p:cNvSpPr/>
          <p:nvPr/>
        </p:nvSpPr>
        <p:spPr>
          <a:xfrm>
            <a:off x="6351882" y="4605398"/>
            <a:ext cx="5318608" cy="3601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Communications and resource management are not aided — so they reveal whether reading less in the panel actually frees attention elsewhere. We are measuring performance in these tasks.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Appendix</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References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3" name="Shape 11"/>
          <p:cNvSpPr/>
          <p:nvPr/>
        </p:nvSpPr>
        <p:spPr>
          <a:xfrm>
            <a:off x="484632" y="1739022"/>
            <a:ext cx="9527650" cy="2779970"/>
          </a:xfrm>
          <a:prstGeom prst="rect">
            <a:avLst/>
          </a:prstGeom>
          <a:solidFill>
            <a:srgbClr val="FFFFFF"/>
          </a:solidFill>
          <a:ln w="9525">
            <a:solidFill>
              <a:srgbClr val="C9D2D9"/>
            </a:solidFill>
            <a:prstDash val="solid"/>
          </a:ln>
        </p:spPr>
        <p:txBody>
          <a:bodyPr/>
          <a:lstStyle/>
          <a:p>
            <a:r>
              <a:rPr lang="de-DE" sz="1400" dirty="0"/>
              <a:t>Mercado, J. E., Rupp, M. A., Chen, J. Y. C., Barnes, M. J., Barber, D., &amp; </a:t>
            </a:r>
            <a:r>
              <a:rPr lang="de-DE" sz="1400" dirty="0" err="1"/>
              <a:t>Procci</a:t>
            </a:r>
            <a:r>
              <a:rPr lang="de-DE" sz="1400" dirty="0"/>
              <a:t>, K. (2016). Intelligent Agent Transparency in Human–Agent Teaming </a:t>
            </a:r>
            <a:r>
              <a:rPr lang="de-DE" sz="1400" dirty="0" err="1"/>
              <a:t>for</a:t>
            </a:r>
            <a:r>
              <a:rPr lang="de-DE" sz="1400" dirty="0"/>
              <a:t> Multi-</a:t>
            </a:r>
            <a:r>
              <a:rPr lang="de-DE" sz="1400" dirty="0" err="1"/>
              <a:t>UxV</a:t>
            </a:r>
            <a:r>
              <a:rPr lang="de-DE" sz="1400" dirty="0"/>
              <a:t> Management. Human </a:t>
            </a:r>
            <a:r>
              <a:rPr lang="de-DE" sz="1400" dirty="0" err="1"/>
              <a:t>Factors</a:t>
            </a:r>
            <a:r>
              <a:rPr lang="de-DE" sz="1400" dirty="0"/>
              <a:t>, 58(3), 401–415. </a:t>
            </a:r>
          </a:p>
          <a:p>
            <a:endParaRPr lang="de-DE" sz="1400" dirty="0"/>
          </a:p>
          <a:p>
            <a:r>
              <a:rPr lang="de-DE" sz="1400" dirty="0" err="1"/>
              <a:t>Stowers</a:t>
            </a:r>
            <a:r>
              <a:rPr lang="de-DE" sz="1400" dirty="0"/>
              <a:t>, K., </a:t>
            </a:r>
            <a:r>
              <a:rPr lang="de-DE" sz="1400" dirty="0" err="1"/>
              <a:t>Kasdaglis</a:t>
            </a:r>
            <a:r>
              <a:rPr lang="de-DE" sz="1400" dirty="0"/>
              <a:t>, N., Rupp, M., Chen, J., Barber, D., &amp; Barnes, M. (2017). </a:t>
            </a:r>
            <a:r>
              <a:rPr lang="de-DE" sz="1400" dirty="0" err="1"/>
              <a:t>Insights</a:t>
            </a:r>
            <a:r>
              <a:rPr lang="de-DE" sz="1400" dirty="0"/>
              <a:t> </a:t>
            </a:r>
            <a:r>
              <a:rPr lang="de-DE" sz="1400" dirty="0" err="1"/>
              <a:t>into</a:t>
            </a:r>
            <a:r>
              <a:rPr lang="de-DE" sz="1400" dirty="0"/>
              <a:t> Human-Agent Teaming: Intelligent Agent Transparency and </a:t>
            </a:r>
            <a:r>
              <a:rPr lang="de-DE" sz="1400" dirty="0" err="1"/>
              <a:t>Uncertainty</a:t>
            </a:r>
            <a:r>
              <a:rPr lang="de-DE" sz="1400" dirty="0"/>
              <a:t>. In P. Savage-</a:t>
            </a:r>
            <a:r>
              <a:rPr lang="de-DE" sz="1400" dirty="0" err="1"/>
              <a:t>Knepshield</a:t>
            </a:r>
            <a:r>
              <a:rPr lang="de-DE" sz="1400" dirty="0"/>
              <a:t> &amp; J. Chen (Eds.), </a:t>
            </a:r>
            <a:r>
              <a:rPr lang="de-DE" sz="1400" dirty="0" err="1"/>
              <a:t>Advances</a:t>
            </a:r>
            <a:r>
              <a:rPr lang="de-DE" sz="1400" dirty="0"/>
              <a:t> in Human </a:t>
            </a:r>
            <a:r>
              <a:rPr lang="de-DE" sz="1400" dirty="0" err="1"/>
              <a:t>Factors</a:t>
            </a:r>
            <a:r>
              <a:rPr lang="de-DE" sz="1400" dirty="0"/>
              <a:t> in Robots and </a:t>
            </a:r>
            <a:r>
              <a:rPr lang="de-DE" sz="1400" dirty="0" err="1"/>
              <a:t>Unmanned</a:t>
            </a:r>
            <a:r>
              <a:rPr lang="de-DE" sz="1400" dirty="0"/>
              <a:t> Systems (</a:t>
            </a:r>
            <a:r>
              <a:rPr lang="de-DE" sz="1400" dirty="0" err="1"/>
              <a:t>Advances</a:t>
            </a:r>
            <a:r>
              <a:rPr lang="de-DE" sz="1400" dirty="0"/>
              <a:t> in Intelligent Systems and Computing 499, pp. 149–160)</a:t>
            </a:r>
          </a:p>
          <a:p>
            <a:endParaRPr lang="de-DE" sz="1400" dirty="0"/>
          </a:p>
          <a:p>
            <a:r>
              <a:rPr lang="de-DE" sz="1400" dirty="0"/>
              <a:t>Wang, X., &amp; Yin, M. (2021). Are </a:t>
            </a:r>
            <a:r>
              <a:rPr lang="de-DE" sz="1400" dirty="0" err="1"/>
              <a:t>Explanations</a:t>
            </a:r>
            <a:r>
              <a:rPr lang="de-DE" sz="1400" dirty="0"/>
              <a:t> </a:t>
            </a:r>
            <a:r>
              <a:rPr lang="de-DE" sz="1400" dirty="0" err="1"/>
              <a:t>Helpful</a:t>
            </a:r>
            <a:r>
              <a:rPr lang="de-DE" sz="1400" dirty="0"/>
              <a:t>? A </a:t>
            </a:r>
            <a:r>
              <a:rPr lang="de-DE" sz="1400" dirty="0" err="1"/>
              <a:t>Comparative</a:t>
            </a:r>
            <a:r>
              <a:rPr lang="de-DE" sz="1400" dirty="0"/>
              <a:t> Study </a:t>
            </a:r>
            <a:r>
              <a:rPr lang="de-DE" sz="1400" dirty="0" err="1"/>
              <a:t>of</a:t>
            </a:r>
            <a:r>
              <a:rPr lang="de-DE" sz="1400" dirty="0"/>
              <a:t> </a:t>
            </a:r>
            <a:r>
              <a:rPr lang="de-DE" sz="1400" dirty="0" err="1"/>
              <a:t>the</a:t>
            </a:r>
            <a:r>
              <a:rPr lang="de-DE" sz="1400" dirty="0"/>
              <a:t> </a:t>
            </a:r>
            <a:r>
              <a:rPr lang="de-DE" sz="1400" dirty="0" err="1"/>
              <a:t>Effects</a:t>
            </a:r>
            <a:r>
              <a:rPr lang="de-DE" sz="1400" dirty="0"/>
              <a:t> </a:t>
            </a:r>
            <a:r>
              <a:rPr lang="de-DE" sz="1400" dirty="0" err="1"/>
              <a:t>of</a:t>
            </a:r>
            <a:r>
              <a:rPr lang="de-DE" sz="1400" dirty="0"/>
              <a:t> </a:t>
            </a:r>
            <a:r>
              <a:rPr lang="de-DE" sz="1400" dirty="0" err="1"/>
              <a:t>Explanations</a:t>
            </a:r>
            <a:r>
              <a:rPr lang="de-DE" sz="1400" dirty="0"/>
              <a:t> in AI-</a:t>
            </a:r>
            <a:r>
              <a:rPr lang="de-DE" sz="1400" dirty="0" err="1"/>
              <a:t>Assisted</a:t>
            </a:r>
            <a:r>
              <a:rPr lang="de-DE" sz="1400" dirty="0"/>
              <a:t> </a:t>
            </a:r>
            <a:r>
              <a:rPr lang="de-DE" sz="1400" dirty="0" err="1"/>
              <a:t>Decision</a:t>
            </a:r>
            <a:r>
              <a:rPr lang="de-DE" sz="1400" dirty="0"/>
              <a:t>-Making. In 26th International Conference on Intelligent User Interfaces.</a:t>
            </a:r>
          </a:p>
          <a:p>
            <a:endParaRPr lang="de-DE" sz="1400" dirty="0"/>
          </a:p>
          <a:p>
            <a:r>
              <a:rPr lang="de-DE" sz="1400" dirty="0" err="1"/>
              <a:t>Bansal</a:t>
            </a:r>
            <a:r>
              <a:rPr lang="de-DE" sz="1400" dirty="0"/>
              <a:t>, G., Wu, T., Zhou, J., </a:t>
            </a:r>
            <a:r>
              <a:rPr lang="de-DE" sz="1400" dirty="0" err="1"/>
              <a:t>Fok</a:t>
            </a:r>
            <a:r>
              <a:rPr lang="de-DE" sz="1400" dirty="0"/>
              <a:t>, R., </a:t>
            </a:r>
            <a:r>
              <a:rPr lang="de-DE" sz="1400" dirty="0" err="1"/>
              <a:t>Nushi</a:t>
            </a:r>
            <a:r>
              <a:rPr lang="de-DE" sz="1400" dirty="0"/>
              <a:t>, B., </a:t>
            </a:r>
            <a:r>
              <a:rPr lang="de-DE" sz="1400" dirty="0" err="1"/>
              <a:t>Kamar</a:t>
            </a:r>
            <a:r>
              <a:rPr lang="de-DE" sz="1400" dirty="0"/>
              <a:t>, E., Ribeiro, M. T., &amp; Weld, D. S. (2021). </a:t>
            </a:r>
            <a:r>
              <a:rPr lang="de-DE" sz="1400" dirty="0" err="1"/>
              <a:t>Does</a:t>
            </a:r>
            <a:r>
              <a:rPr lang="de-DE" sz="1400" dirty="0"/>
              <a:t> </a:t>
            </a:r>
            <a:r>
              <a:rPr lang="de-DE" sz="1400" dirty="0" err="1"/>
              <a:t>the</a:t>
            </a:r>
            <a:r>
              <a:rPr lang="de-DE" sz="1400" dirty="0"/>
              <a:t> Whole </a:t>
            </a:r>
            <a:r>
              <a:rPr lang="de-DE" sz="1400" dirty="0" err="1"/>
              <a:t>Exceed</a:t>
            </a:r>
            <a:r>
              <a:rPr lang="de-DE" sz="1400" dirty="0"/>
              <a:t> </a:t>
            </a:r>
            <a:r>
              <a:rPr lang="de-DE" sz="1400" dirty="0" err="1"/>
              <a:t>its</a:t>
            </a:r>
            <a:r>
              <a:rPr lang="de-DE" sz="1400" dirty="0"/>
              <a:t> Parts? The </a:t>
            </a:r>
            <a:r>
              <a:rPr lang="de-DE" sz="1400" dirty="0" err="1"/>
              <a:t>Effect</a:t>
            </a:r>
            <a:r>
              <a:rPr lang="de-DE" sz="1400" dirty="0"/>
              <a:t> </a:t>
            </a:r>
            <a:r>
              <a:rPr lang="de-DE" sz="1400" dirty="0" err="1"/>
              <a:t>of</a:t>
            </a:r>
            <a:r>
              <a:rPr lang="de-DE" sz="1400" dirty="0"/>
              <a:t> AI </a:t>
            </a:r>
            <a:r>
              <a:rPr lang="de-DE" sz="1400" dirty="0" err="1"/>
              <a:t>Explanations</a:t>
            </a:r>
            <a:r>
              <a:rPr lang="de-DE" sz="1400" dirty="0"/>
              <a:t> on </a:t>
            </a:r>
            <a:r>
              <a:rPr lang="de-DE" sz="1400" dirty="0" err="1"/>
              <a:t>Complementary</a:t>
            </a:r>
            <a:r>
              <a:rPr lang="de-DE" sz="1400" dirty="0"/>
              <a:t> Team Performance. In CHI Conference on Human </a:t>
            </a:r>
            <a:r>
              <a:rPr lang="de-DE" sz="1400" dirty="0" err="1"/>
              <a:t>Factors</a:t>
            </a:r>
            <a:r>
              <a:rPr lang="de-DE" sz="1400" dirty="0"/>
              <a:t> in Computing.</a:t>
            </a:r>
          </a:p>
        </p:txBody>
      </p:sp>
      <p:sp>
        <p:nvSpPr>
          <p:cNvPr id="14" name="Shape 12"/>
          <p:cNvSpPr/>
          <p:nvPr/>
        </p:nvSpPr>
        <p:spPr>
          <a:xfrm>
            <a:off x="411480" y="1728747"/>
            <a:ext cx="73152" cy="2790245"/>
          </a:xfrm>
          <a:prstGeom prst="rect">
            <a:avLst/>
          </a:prstGeom>
          <a:solidFill>
            <a:srgbClr val="143847"/>
          </a:solidFill>
          <a:ln w="12700">
            <a:solidFill>
              <a:srgbClr val="143847"/>
            </a:solidFill>
            <a:prstDash val="solid"/>
          </a:ln>
        </p:spPr>
      </p:sp>
      <p:sp>
        <p:nvSpPr>
          <p:cNvPr id="17" name="Text 15"/>
          <p:cNvSpPr/>
          <p:nvPr/>
        </p:nvSpPr>
        <p:spPr>
          <a:xfrm>
            <a:off x="4952848" y="1829332"/>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 </a:t>
            </a:r>
            <a:endParaRPr lang="en-US" sz="1000" dirty="0"/>
          </a:p>
        </p:txBody>
      </p:sp>
      <p:sp>
        <p:nvSpPr>
          <p:cNvPr id="19" name="Text 17"/>
          <p:cNvSpPr/>
          <p:nvPr/>
        </p:nvSpPr>
        <p:spPr>
          <a:xfrm>
            <a:off x="695341" y="1965169"/>
            <a:ext cx="7547511" cy="2465300"/>
          </a:xfrm>
          <a:prstGeom prst="rect">
            <a:avLst/>
          </a:prstGeom>
          <a:noFill/>
          <a:ln/>
        </p:spPr>
        <p:txBody>
          <a:bodyPr wrap="square" lIns="0" tIns="0" rIns="0" bIns="0" rtlCol="0" anchor="t"/>
          <a:lstStyle/>
          <a:p>
            <a:pPr marL="0" indent="0">
              <a:buNone/>
            </a:pPr>
            <a:endParaRPr lang="en-US" sz="1050" dirty="0"/>
          </a:p>
        </p:txBody>
      </p:sp>
    </p:spTree>
    <p:extLst>
      <p:ext uri="{BB962C8B-B14F-4D97-AF65-F5344CB8AC3E}">
        <p14:creationId xmlns:p14="http://schemas.microsoft.com/office/powerpoint/2010/main" val="472062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1993</Words>
  <Application>Microsoft Office PowerPoint</Application>
  <PresentationFormat>Breitbild</PresentationFormat>
  <Paragraphs>182</Paragraphs>
  <Slides>7</Slides>
  <Notes>7</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7</vt:i4>
      </vt:variant>
    </vt:vector>
  </HeadingPairs>
  <TitlesOfParts>
    <vt:vector size="12" baseType="lpstr">
      <vt:lpstr>-apple-system</vt: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 of Explanation - Explainability vs. Explicability under Multitasking Load</dc:title>
  <dc:subject>PptxGenJS Presentation</dc:subject>
  <dc:creator>Group Z</dc:creator>
  <cp:lastModifiedBy>Andrea Thelen</cp:lastModifiedBy>
  <cp:revision>72</cp:revision>
  <dcterms:created xsi:type="dcterms:W3CDTF">2026-05-16T06:59:35Z</dcterms:created>
  <dcterms:modified xsi:type="dcterms:W3CDTF">2026-05-23T09:55:29Z</dcterms:modified>
</cp:coreProperties>
</file>