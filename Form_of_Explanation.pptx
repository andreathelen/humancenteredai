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algn="r" indent="0" marL="0">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algn="r" indent="0" marL="0">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algn="r" indent="0" marL="0">
              <a:buNone/>
            </a:pPr>
            <a:r>
              <a:rPr lang="en-US" sz="900" dirty="0">
                <a:solidFill>
                  <a:srgbClr val="5A6770"/>
                </a:solidFill>
                <a:latin typeface="Calibri" pitchFamily="34" charset="0"/>
                <a:ea typeface="Calibri" pitchFamily="34" charset="-122"/>
                <a:cs typeface="Calibri" pitchFamily="34" charset="-120"/>
              </a:rPr>
              <a:t>1 / 6</a:t>
            </a:r>
            <a:endParaRPr lang="en-US" sz="900" dirty="0"/>
          </a:p>
        </p:txBody>
      </p:sp>
      <p:sp>
        <p:nvSpPr>
          <p:cNvPr id="10" name="Text 8"/>
          <p:cNvSpPr/>
          <p:nvPr/>
        </p:nvSpPr>
        <p:spPr>
          <a:xfrm>
            <a:off x="548640" y="1828800"/>
            <a:ext cx="11094415" cy="914400"/>
          </a:xfrm>
          <a:prstGeom prst="rect">
            <a:avLst/>
          </a:prstGeom>
          <a:noFill/>
          <a:ln/>
        </p:spPr>
        <p:txBody>
          <a:bodyPr wrap="square" lIns="0" tIns="0" rIns="0" bIns="0" rtlCol="0" anchor="ctr"/>
          <a:lstStyle/>
          <a:p>
            <a:pPr indent="0" marL="0">
              <a:buNone/>
            </a:pPr>
            <a:r>
              <a:rPr lang="en-US" sz="4800" b="1" dirty="0">
                <a:solidFill>
                  <a:srgbClr val="143847"/>
                </a:solidFill>
                <a:latin typeface="Calibri" pitchFamily="34" charset="0"/>
                <a:ea typeface="Calibri" pitchFamily="34" charset="-122"/>
                <a:cs typeface="Calibri" pitchFamily="34" charset="-120"/>
              </a:rPr>
              <a:t>Form of Explanation</a:t>
            </a:r>
            <a:endParaRPr lang="en-US" sz="4800" dirty="0"/>
          </a:p>
        </p:txBody>
      </p:sp>
      <p:sp>
        <p:nvSpPr>
          <p:cNvPr id="11" name="Text 9"/>
          <p:cNvSpPr/>
          <p:nvPr/>
        </p:nvSpPr>
        <p:spPr>
          <a:xfrm>
            <a:off x="548640" y="2743200"/>
            <a:ext cx="11094415" cy="502920"/>
          </a:xfrm>
          <a:prstGeom prst="rect">
            <a:avLst/>
          </a:prstGeom>
          <a:noFill/>
          <a:ln/>
        </p:spPr>
        <p:txBody>
          <a:bodyPr wrap="square" lIns="0" tIns="0" rIns="0" bIns="0" rtlCol="0" anchor="ctr"/>
          <a:lstStyle/>
          <a:p>
            <a:pPr indent="0" marL="0">
              <a:buNone/>
            </a:pPr>
            <a:r>
              <a:rPr lang="en-US" sz="2200" dirty="0">
                <a:solidFill>
                  <a:srgbClr val="1A1A1A"/>
                </a:solidFill>
                <a:latin typeface="Calibri" pitchFamily="34" charset="0"/>
                <a:ea typeface="Calibri" pitchFamily="34" charset="-122"/>
                <a:cs typeface="Calibri" pitchFamily="34" charset="-120"/>
              </a:rPr>
              <a:t>Explainability vs. Explicability under Multitasking Load</a:t>
            </a:r>
            <a:endParaRPr lang="en-US" sz="2200" dirty="0"/>
          </a:p>
        </p:txBody>
      </p:sp>
      <p:sp>
        <p:nvSpPr>
          <p:cNvPr id="12" name="Shape 10"/>
          <p:cNvSpPr/>
          <p:nvPr/>
        </p:nvSpPr>
        <p:spPr>
          <a:xfrm>
            <a:off x="548640" y="3383280"/>
            <a:ext cx="2194560" cy="0"/>
          </a:xfrm>
          <a:prstGeom prst="line">
            <a:avLst/>
          </a:prstGeom>
          <a:noFill/>
          <a:ln w="25400">
            <a:solidFill>
              <a:srgbClr val="143847"/>
            </a:solidFill>
            <a:prstDash val="solid"/>
          </a:ln>
        </p:spPr>
      </p:sp>
      <p:sp>
        <p:nvSpPr>
          <p:cNvPr id="13" name="Text 11"/>
          <p:cNvSpPr/>
          <p:nvPr/>
        </p:nvSpPr>
        <p:spPr>
          <a:xfrm>
            <a:off x="548640" y="3566160"/>
            <a:ext cx="11094415" cy="1005840"/>
          </a:xfrm>
          <a:prstGeom prst="rect">
            <a:avLst/>
          </a:prstGeom>
          <a:noFill/>
          <a:ln/>
        </p:spPr>
        <p:txBody>
          <a:bodyPr wrap="square" lIns="0" tIns="0" rIns="0" bIns="0" rtlCol="0" anchor="ctr"/>
          <a:lstStyle/>
          <a:p>
            <a:pPr indent="0" marL="0">
              <a:buNone/>
            </a:pPr>
            <a:r>
              <a:rPr lang="en-US" sz="1600" i="1" dirty="0">
                <a:solidFill>
                  <a:srgbClr val="1A1A1A"/>
                </a:solidFill>
                <a:latin typeface="Calibri" pitchFamily="34" charset="0"/>
                <a:ea typeface="Calibri" pitchFamily="34" charset="-122"/>
                <a:cs typeface="Calibri" pitchFamily="34" charset="-120"/>
              </a:rPr>
              <a:t>Does the form of an automation aid's reasoning explanation — holding information content constant — change whether the operator's mental model actually updates under multitasking load?</a:t>
            </a:r>
            <a:endParaRPr lang="en-US" sz="1600" dirty="0"/>
          </a:p>
        </p:txBody>
      </p:sp>
      <p:sp>
        <p:nvSpPr>
          <p:cNvPr id="14" name="Text 12"/>
          <p:cNvSpPr/>
          <p:nvPr/>
        </p:nvSpPr>
        <p:spPr>
          <a:xfrm>
            <a:off x="548640" y="5212080"/>
            <a:ext cx="7315200" cy="292608"/>
          </a:xfrm>
          <a:prstGeom prst="rect">
            <a:avLst/>
          </a:prstGeom>
          <a:noFill/>
          <a:ln/>
        </p:spPr>
        <p:txBody>
          <a:bodyPr wrap="square" lIns="0" tIns="0" rIns="0" bIns="0" rtlCol="0" anchor="ctr"/>
          <a:lstStyle/>
          <a:p>
            <a:pPr indent="0" marL="0">
              <a:buNone/>
            </a:pPr>
            <a:r>
              <a:rPr lang="en-US" sz="1400" b="1" dirty="0">
                <a:solidFill>
                  <a:srgbClr val="143847"/>
                </a:solidFill>
                <a:latin typeface="Calibri" pitchFamily="34" charset="0"/>
                <a:ea typeface="Calibri" pitchFamily="34" charset="-122"/>
                <a:cs typeface="Calibri" pitchFamily="34" charset="-120"/>
              </a:rPr>
              <a:t>Group Z</a:t>
            </a:r>
            <a:endParaRPr lang="en-US" sz="1400" dirty="0"/>
          </a:p>
        </p:txBody>
      </p:sp>
      <p:sp>
        <p:nvSpPr>
          <p:cNvPr id="15" name="Text 13"/>
          <p:cNvSpPr/>
          <p:nvPr/>
        </p:nvSpPr>
        <p:spPr>
          <a:xfrm>
            <a:off x="548640" y="5532120"/>
            <a:ext cx="731520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Lilian Obidike  ·  Sheethal Mohan Prabhu  ·  Andrea Thelen</a:t>
            </a:r>
            <a:endParaRPr lang="en-US" sz="1300" dirty="0"/>
          </a:p>
        </p:txBody>
      </p:sp>
      <p:sp>
        <p:nvSpPr>
          <p:cNvPr id="16" name="Text 14"/>
          <p:cNvSpPr/>
          <p:nvPr/>
        </p:nvSpPr>
        <p:spPr>
          <a:xfrm>
            <a:off x="548640" y="5806440"/>
            <a:ext cx="8229600" cy="274320"/>
          </a:xfrm>
          <a:prstGeom prst="rect">
            <a:avLst/>
          </a:prstGeom>
          <a:noFill/>
          <a:ln/>
        </p:spPr>
        <p:txBody>
          <a:bodyPr wrap="square" lIns="0" tIns="0" rIns="0" bIns="0" rtlCol="0" anchor="ctr"/>
          <a:lstStyle/>
          <a:p>
            <a:pPr indent="0" marL="0">
              <a:buNone/>
            </a:pPr>
            <a:r>
              <a:rPr lang="en-US" sz="1200" i="1" dirty="0">
                <a:solidFill>
                  <a:srgbClr val="5A6770"/>
                </a:solidFill>
                <a:latin typeface="Calibri" pitchFamily="34" charset="0"/>
                <a:ea typeface="Calibri" pitchFamily="34" charset="-122"/>
                <a:cs typeface="Calibri" pitchFamily="34" charset="-120"/>
              </a:rPr>
              <a:t>Universität zu Lübeck  ·  Project pitch  ·  14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algn="r" indent="0" marL="0">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algn="r" indent="0" marL="0">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algn="r" indent="0" marL="0">
              <a:buNone/>
            </a:pPr>
            <a:r>
              <a:rPr lang="en-US" sz="900" dirty="0">
                <a:solidFill>
                  <a:srgbClr val="5A6770"/>
                </a:solidFill>
                <a:latin typeface="Calibri" pitchFamily="34" charset="0"/>
                <a:ea typeface="Calibri" pitchFamily="34" charset="-122"/>
                <a:cs typeface="Calibri" pitchFamily="34" charset="-120"/>
              </a:rPr>
              <a:t>2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indent="0" marL="0">
              <a:buNone/>
            </a:pPr>
            <a:r>
              <a:rPr lang="en-US" sz="2600" b="1" dirty="0">
                <a:solidFill>
                  <a:srgbClr val="143847"/>
                </a:solidFill>
                <a:latin typeface="Calibri" pitchFamily="34" charset="0"/>
                <a:ea typeface="Calibri" pitchFamily="34" charset="-122"/>
                <a:cs typeface="Calibri" pitchFamily="34" charset="-120"/>
              </a:rPr>
              <a:t>Problem &amp; relevance</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indent="0" marL="0">
              <a:buNone/>
            </a:pPr>
            <a:r>
              <a:rPr lang="en-US" sz="1300" i="1" dirty="0">
                <a:solidFill>
                  <a:srgbClr val="5A6770"/>
                </a:solidFill>
                <a:latin typeface="Calibri" pitchFamily="34" charset="0"/>
                <a:ea typeface="Calibri" pitchFamily="34" charset="-122"/>
                <a:cs typeface="Calibri" pitchFamily="34" charset="-120"/>
              </a:rPr>
              <a:t>Two systems can be equally transparent — yet only one updates the operator's mental model.</a:t>
            </a:r>
            <a:endParaRPr lang="en-US" sz="1300" dirty="0"/>
          </a:p>
        </p:txBody>
      </p:sp>
      <p:sp>
        <p:nvSpPr>
          <p:cNvPr id="13" name="Text 11"/>
          <p:cNvSpPr/>
          <p:nvPr/>
        </p:nvSpPr>
        <p:spPr>
          <a:xfrm>
            <a:off x="411480" y="1874520"/>
            <a:ext cx="5486400" cy="310896"/>
          </a:xfrm>
          <a:prstGeom prst="rect">
            <a:avLst/>
          </a:prstGeom>
          <a:noFill/>
          <a:ln/>
        </p:spPr>
        <p:txBody>
          <a:bodyPr wrap="square" lIns="0" tIns="0" rIns="0" bIns="0" rtlCol="0" anchor="ctr"/>
          <a:lstStyle/>
          <a:p>
            <a:pPr indent="0" marL="0">
              <a:buNone/>
            </a:pPr>
            <a:r>
              <a:rPr lang="en-US" sz="1400" b="1" dirty="0">
                <a:solidFill>
                  <a:srgbClr val="143847"/>
                </a:solidFill>
                <a:latin typeface="Calibri" pitchFamily="34" charset="0"/>
                <a:ea typeface="Calibri" pitchFamily="34" charset="-122"/>
                <a:cs typeface="Calibri" pitchFamily="34" charset="-120"/>
              </a:rPr>
              <a:t>Problem / research gap</a:t>
            </a:r>
            <a:endParaRPr lang="en-US" sz="1400" dirty="0"/>
          </a:p>
        </p:txBody>
      </p:sp>
      <p:sp>
        <p:nvSpPr>
          <p:cNvPr id="14" name="Text 12"/>
          <p:cNvSpPr/>
          <p:nvPr/>
        </p:nvSpPr>
        <p:spPr>
          <a:xfrm>
            <a:off x="411480" y="2240280"/>
            <a:ext cx="5486400" cy="3657600"/>
          </a:xfrm>
          <a:prstGeom prst="rect">
            <a:avLst/>
          </a:prstGeom>
          <a:noFill/>
          <a:ln/>
        </p:spPr>
        <p:txBody>
          <a:bodyPr wrap="square" lIns="0" tIns="0" rIns="0" bIns="0" rtlCol="0" anchor="t"/>
          <a:lstStyle/>
          <a:p>
            <a:pPr indent="0" marL="0">
              <a:spcAft>
                <a:spcPts val="400"/>
              </a:spcAft>
              <a:buNone/>
            </a:pPr>
            <a:r>
              <a:rPr lang="en-US" sz="1300" dirty="0">
                <a:solidFill>
                  <a:srgbClr val="1A1A1A"/>
                </a:solidFill>
                <a:latin typeface="Calibri" pitchFamily="34" charset="0"/>
                <a:ea typeface="Calibri" pitchFamily="34" charset="-122"/>
                <a:cs typeface="Calibri" pitchFamily="34" charset="-120"/>
              </a:rPr>
              <a:t>When an AI system explains itself, two things happen separately: the system produces an explanation (</a:t>
            </a:r>
            <a:pPr indent="0" marL="0">
              <a:spcAft>
                <a:spcPts val="400"/>
              </a:spcAft>
              <a:buNone/>
            </a:pPr>
            <a:r>
              <a:rPr lang="en-US" sz="1300" i="1" dirty="0">
                <a:solidFill>
                  <a:srgbClr val="1A1A1A"/>
                </a:solidFill>
                <a:latin typeface="Calibri" pitchFamily="34" charset="0"/>
                <a:ea typeface="Calibri" pitchFamily="34" charset="-122"/>
                <a:cs typeface="Calibri" pitchFamily="34" charset="-120"/>
              </a:rPr>
              <a:t>explainability</a:t>
            </a:r>
            <a:pPr indent="0" marL="0">
              <a:spcAft>
                <a:spcPts val="400"/>
              </a:spcAft>
              <a:buNone/>
            </a:pPr>
            <a:r>
              <a:rPr lang="en-US" sz="1300" dirty="0">
                <a:solidFill>
                  <a:srgbClr val="1A1A1A"/>
                </a:solidFill>
                <a:latin typeface="Calibri" pitchFamily="34" charset="0"/>
                <a:ea typeface="Calibri" pitchFamily="34" charset="-122"/>
                <a:cs typeface="Calibri" pitchFamily="34" charset="-120"/>
              </a:rPr>
              <a:t>), and the operator's mental model updates (</a:t>
            </a:r>
            <a:pPr indent="0" marL="0">
              <a:spcAft>
                <a:spcPts val="400"/>
              </a:spcAft>
              <a:buNone/>
            </a:pPr>
            <a:r>
              <a:rPr lang="en-US" sz="1300" i="1" dirty="0">
                <a:solidFill>
                  <a:srgbClr val="1A1A1A"/>
                </a:solidFill>
                <a:latin typeface="Calibri" pitchFamily="34" charset="0"/>
                <a:ea typeface="Calibri" pitchFamily="34" charset="-122"/>
                <a:cs typeface="Calibri" pitchFamily="34" charset="-120"/>
              </a:rPr>
              <a:t>explicability</a:t>
            </a:r>
            <a:pPr indent="0" marL="0">
              <a:spcAft>
                <a:spcPts val="400"/>
              </a:spcAft>
              <a:buNone/>
            </a:pPr>
            <a:r>
              <a:rPr lang="en-US" sz="1300" dirty="0">
                <a:solidFill>
                  <a:srgbClr val="1A1A1A"/>
                </a:solidFill>
                <a:latin typeface="Calibri" pitchFamily="34" charset="0"/>
                <a:ea typeface="Calibri" pitchFamily="34" charset="-122"/>
                <a:cs typeface="Calibri" pitchFamily="34" charset="-120"/>
              </a:rPr>
              <a:t>).</a:t>
            </a:r>
            <a:endParaRPr lang="en-US" sz="1300" dirty="0"/>
          </a:p>
          <a:p>
            <a:pPr indent="0" marL="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dirty="0">
                <a:solidFill>
                  <a:srgbClr val="1A1A1A"/>
                </a:solidFill>
                <a:latin typeface="Calibri" pitchFamily="34" charset="0"/>
                <a:ea typeface="Calibri" pitchFamily="34" charset="-122"/>
                <a:cs typeface="Calibri" pitchFamily="34" charset="-120"/>
              </a:rPr>
              <a:t>The transparency literature has focused on </a:t>
            </a:r>
            <a:pPr indent="0" marL="0">
              <a:spcAft>
                <a:spcPts val="400"/>
              </a:spcAft>
              <a:buNone/>
            </a:pPr>
            <a:r>
              <a:rPr lang="en-US" sz="1300" i="1" dirty="0">
                <a:solidFill>
                  <a:srgbClr val="1A1A1A"/>
                </a:solidFill>
                <a:latin typeface="Calibri" pitchFamily="34" charset="0"/>
                <a:ea typeface="Calibri" pitchFamily="34" charset="-122"/>
                <a:cs typeface="Calibri" pitchFamily="34" charset="-120"/>
              </a:rPr>
              <a:t>how much</a:t>
            </a:r>
            <a:pPr indent="0" marL="0">
              <a:spcAft>
                <a:spcPts val="400"/>
              </a:spcAft>
              <a:buNone/>
            </a:pPr>
            <a:r>
              <a:rPr lang="en-US" sz="1300" dirty="0">
                <a:solidFill>
                  <a:srgbClr val="1A1A1A"/>
                </a:solidFill>
                <a:latin typeface="Calibri" pitchFamily="34" charset="0"/>
                <a:ea typeface="Calibri" pitchFamily="34" charset="-122"/>
                <a:cs typeface="Calibri" pitchFamily="34" charset="-120"/>
              </a:rPr>
              <a:t> information an aid provides — not on </a:t>
            </a:r>
            <a:pPr indent="0" marL="0">
              <a:spcAft>
                <a:spcPts val="400"/>
              </a:spcAft>
              <a:buNone/>
            </a:pPr>
            <a:r>
              <a:rPr lang="en-US" sz="1300" i="1" dirty="0">
                <a:solidFill>
                  <a:srgbClr val="1A1A1A"/>
                </a:solidFill>
                <a:latin typeface="Calibri" pitchFamily="34" charset="0"/>
                <a:ea typeface="Calibri" pitchFamily="34" charset="-122"/>
                <a:cs typeface="Calibri" pitchFamily="34" charset="-120"/>
              </a:rPr>
              <a:t>how</a:t>
            </a:r>
            <a:pPr indent="0" marL="0">
              <a:spcAft>
                <a:spcPts val="400"/>
              </a:spcAft>
              <a:buNone/>
            </a:pPr>
            <a:r>
              <a:rPr lang="en-US" sz="1300" dirty="0">
                <a:solidFill>
                  <a:srgbClr val="1A1A1A"/>
                </a:solidFill>
                <a:latin typeface="Calibri" pitchFamily="34" charset="0"/>
                <a:ea typeface="Calibri" pitchFamily="34" charset="-122"/>
                <a:cs typeface="Calibri" pitchFamily="34" charset="-120"/>
              </a:rPr>
              <a:t> it is delivered.</a:t>
            </a:r>
            <a:endParaRPr lang="en-US" sz="1300" dirty="0"/>
          </a:p>
          <a:p>
            <a:pPr indent="0" marL="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b="1" dirty="0">
                <a:solidFill>
                  <a:srgbClr val="143847"/>
                </a:solidFill>
                <a:latin typeface="Calibri" pitchFamily="34" charset="0"/>
                <a:ea typeface="Calibri" pitchFamily="34" charset="-122"/>
                <a:cs typeface="Calibri" pitchFamily="34" charset="-120"/>
              </a:rPr>
              <a:t>We isolate the form effect by holding information content constant.</a:t>
            </a:r>
            <a:endParaRPr lang="en-US" sz="1300" dirty="0"/>
          </a:p>
        </p:txBody>
      </p:sp>
      <p:sp>
        <p:nvSpPr>
          <p:cNvPr id="15" name="Shape 13"/>
          <p:cNvSpPr/>
          <p:nvPr/>
        </p:nvSpPr>
        <p:spPr>
          <a:xfrm>
            <a:off x="6080760" y="1874520"/>
            <a:ext cx="0" cy="4023360"/>
          </a:xfrm>
          <a:prstGeom prst="line">
            <a:avLst/>
          </a:prstGeom>
          <a:noFill/>
          <a:ln w="9525">
            <a:solidFill>
              <a:srgbClr val="C9D2D9"/>
            </a:solidFill>
            <a:prstDash val="solid"/>
          </a:ln>
        </p:spPr>
      </p:sp>
      <p:sp>
        <p:nvSpPr>
          <p:cNvPr id="16" name="Text 14"/>
          <p:cNvSpPr/>
          <p:nvPr/>
        </p:nvSpPr>
        <p:spPr>
          <a:xfrm>
            <a:off x="6263640" y="1874520"/>
            <a:ext cx="5486400" cy="310896"/>
          </a:xfrm>
          <a:prstGeom prst="rect">
            <a:avLst/>
          </a:prstGeom>
          <a:noFill/>
          <a:ln/>
        </p:spPr>
        <p:txBody>
          <a:bodyPr wrap="square" lIns="0" tIns="0" rIns="0" bIns="0" rtlCol="0" anchor="ctr"/>
          <a:lstStyle/>
          <a:p>
            <a:pPr indent="0" marL="0">
              <a:buNone/>
            </a:pPr>
            <a:r>
              <a:rPr lang="en-US" sz="1400" b="1" dirty="0">
                <a:solidFill>
                  <a:srgbClr val="143847"/>
                </a:solidFill>
                <a:latin typeface="Calibri" pitchFamily="34" charset="0"/>
                <a:ea typeface="Calibri" pitchFamily="34" charset="-122"/>
                <a:cs typeface="Calibri" pitchFamily="34" charset="-120"/>
              </a:rPr>
              <a:t>Why it is relevant</a:t>
            </a:r>
            <a:endParaRPr lang="en-US" sz="1400" dirty="0"/>
          </a:p>
        </p:txBody>
      </p:sp>
      <p:sp>
        <p:nvSpPr>
          <p:cNvPr id="17" name="Text 15"/>
          <p:cNvSpPr/>
          <p:nvPr/>
        </p:nvSpPr>
        <p:spPr>
          <a:xfrm>
            <a:off x="6263640" y="2240280"/>
            <a:ext cx="5486400" cy="3657600"/>
          </a:xfrm>
          <a:prstGeom prst="rect">
            <a:avLst/>
          </a:prstGeom>
          <a:noFill/>
          <a:ln/>
        </p:spPr>
        <p:txBody>
          <a:bodyPr wrap="square" lIns="0" tIns="0" rIns="0" bIns="0" rtlCol="0" anchor="t"/>
          <a:lstStyle/>
          <a:p>
            <a:pPr indent="0" marL="0">
              <a:spcAft>
                <a:spcPts val="400"/>
              </a:spcAft>
              <a:buNone/>
            </a:pPr>
            <a:r>
              <a:rPr lang="en-US" sz="1300" dirty="0">
                <a:solidFill>
                  <a:srgbClr val="1A1A1A"/>
                </a:solidFill>
                <a:latin typeface="Calibri" pitchFamily="34" charset="0"/>
                <a:ea typeface="Calibri" pitchFamily="34" charset="-122"/>
                <a:cs typeface="Calibri" pitchFamily="34" charset="-120"/>
              </a:rPr>
              <a:t>The distinction matters wherever a human supervises an automated system — </a:t>
            </a:r>
            <a:pPr indent="0" marL="0">
              <a:spcAft>
                <a:spcPts val="400"/>
              </a:spcAft>
              <a:buNone/>
            </a:pPr>
            <a:r>
              <a:rPr lang="en-US" sz="1300" b="1" dirty="0">
                <a:solidFill>
                  <a:srgbClr val="1A1A1A"/>
                </a:solidFill>
                <a:latin typeface="Calibri" pitchFamily="34" charset="0"/>
                <a:ea typeface="Calibri" pitchFamily="34" charset="-122"/>
                <a:cs typeface="Calibri" pitchFamily="34" charset="-120"/>
              </a:rPr>
              <a:t>aviation, medical monitoring, autonomous driving aids.</a:t>
            </a:r>
            <a:endParaRPr lang="en-US" sz="1300" dirty="0"/>
          </a:p>
          <a:p>
            <a:pPr indent="0" marL="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dirty="0">
                <a:solidFill>
                  <a:srgbClr val="1A1A1A"/>
                </a:solidFill>
                <a:latin typeface="Calibri" pitchFamily="34" charset="0"/>
                <a:ea typeface="Calibri" pitchFamily="34" charset="-122"/>
                <a:cs typeface="Calibri" pitchFamily="34" charset="-120"/>
              </a:rPr>
              <a:t>If an explanation is long and reads like a status log, the operator may feel informed without being able to predict the system's next action.</a:t>
            </a:r>
            <a:endParaRPr lang="en-US" sz="1300" dirty="0"/>
          </a:p>
          <a:p>
            <a:pPr indent="0" marL="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i="1" dirty="0">
                <a:solidFill>
                  <a:srgbClr val="143847"/>
                </a:solidFill>
                <a:latin typeface="Calibri" pitchFamily="34" charset="0"/>
                <a:ea typeface="Calibri" pitchFamily="34" charset="-122"/>
                <a:cs typeface="Calibri" pitchFamily="34" charset="-120"/>
              </a:rPr>
              <a:t>That failure mode has measurable consequences for detecting automation errors — and it is precisely what the lecture warns against.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algn="r" indent="0" marL="0">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algn="r" indent="0" marL="0">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algn="r" indent="0" marL="0">
              <a:buNone/>
            </a:pPr>
            <a:r>
              <a:rPr lang="en-US" sz="900" dirty="0">
                <a:solidFill>
                  <a:srgbClr val="5A6770"/>
                </a:solidFill>
                <a:latin typeface="Calibri" pitchFamily="34" charset="0"/>
                <a:ea typeface="Calibri" pitchFamily="34" charset="-122"/>
                <a:cs typeface="Calibri" pitchFamily="34" charset="-120"/>
              </a:rPr>
              <a:t>3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indent="0" marL="0">
              <a:buNone/>
            </a:pPr>
            <a:r>
              <a:rPr lang="en-US" sz="2600" b="1" dirty="0">
                <a:solidFill>
                  <a:srgbClr val="143847"/>
                </a:solidFill>
                <a:latin typeface="Calibri" pitchFamily="34" charset="0"/>
                <a:ea typeface="Calibri" pitchFamily="34" charset="-122"/>
                <a:cs typeface="Calibri" pitchFamily="34" charset="-120"/>
              </a:rPr>
              <a:t>Concept — three forms of explanation</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indent="0" marL="0">
              <a:buNone/>
            </a:pPr>
            <a:r>
              <a:rPr lang="en-US" sz="1300" i="1" dirty="0">
                <a:solidFill>
                  <a:srgbClr val="5A6770"/>
                </a:solidFill>
                <a:latin typeface="Calibri" pitchFamily="34" charset="0"/>
                <a:ea typeface="Calibri" pitchFamily="34" charset="-122"/>
                <a:cs typeface="Calibri" pitchFamily="34" charset="-120"/>
              </a:rPr>
              <a:t>All three forms communicate the aid's reasoning. Information content is matched; only the form varies.</a:t>
            </a:r>
            <a:endParaRPr lang="en-US" sz="1300" dirty="0"/>
          </a:p>
        </p:txBody>
      </p:sp>
      <p:sp>
        <p:nvSpPr>
          <p:cNvPr id="13" name="Shape 11"/>
          <p:cNvSpPr/>
          <p:nvPr/>
        </p:nvSpPr>
        <p:spPr>
          <a:xfrm>
            <a:off x="411480" y="1920240"/>
            <a:ext cx="3667658" cy="4114800"/>
          </a:xfrm>
          <a:prstGeom prst="rect">
            <a:avLst/>
          </a:prstGeom>
          <a:solidFill>
            <a:srgbClr val="F4F6F8"/>
          </a:solidFill>
          <a:ln w="9525">
            <a:solidFill>
              <a:srgbClr val="C9D2D9"/>
            </a:solidFill>
            <a:prstDash val="solid"/>
          </a:ln>
        </p:spPr>
      </p:sp>
      <p:sp>
        <p:nvSpPr>
          <p:cNvPr id="14" name="Shape 12"/>
          <p:cNvSpPr/>
          <p:nvPr/>
        </p:nvSpPr>
        <p:spPr>
          <a:xfrm>
            <a:off x="411480" y="1920240"/>
            <a:ext cx="3667658" cy="91440"/>
          </a:xfrm>
          <a:prstGeom prst="rect">
            <a:avLst/>
          </a:prstGeom>
          <a:solidFill>
            <a:srgbClr val="143847"/>
          </a:solidFill>
          <a:ln w="12700">
            <a:solidFill>
              <a:srgbClr val="143847"/>
            </a:solidFill>
            <a:prstDash val="solid"/>
          </a:ln>
        </p:spPr>
      </p:sp>
      <p:sp>
        <p:nvSpPr>
          <p:cNvPr id="15" name="Text 13"/>
          <p:cNvSpPr/>
          <p:nvPr/>
        </p:nvSpPr>
        <p:spPr>
          <a:xfrm>
            <a:off x="594360" y="2103120"/>
            <a:ext cx="1280160" cy="411480"/>
          </a:xfrm>
          <a:prstGeom prst="rect">
            <a:avLst/>
          </a:prstGeom>
          <a:noFill/>
          <a:ln/>
        </p:spPr>
        <p:txBody>
          <a:bodyPr wrap="square" lIns="0" tIns="0" rIns="0" bIns="0" rtlCol="0" anchor="ctr"/>
          <a:lstStyle/>
          <a:p>
            <a:pPr indent="0" marL="0">
              <a:buNone/>
            </a:pPr>
            <a:r>
              <a:rPr lang="en-US" sz="2200" b="1" dirty="0">
                <a:solidFill>
                  <a:srgbClr val="143847"/>
                </a:solidFill>
                <a:latin typeface="Calibri" pitchFamily="34" charset="0"/>
                <a:ea typeface="Calibri" pitchFamily="34" charset="-122"/>
                <a:cs typeface="Calibri" pitchFamily="34" charset="-120"/>
              </a:rPr>
              <a:t>F1</a:t>
            </a:r>
            <a:endParaRPr lang="en-US" sz="2200" dirty="0"/>
          </a:p>
        </p:txBody>
      </p:sp>
      <p:sp>
        <p:nvSpPr>
          <p:cNvPr id="16" name="Text 14"/>
          <p:cNvSpPr/>
          <p:nvPr/>
        </p:nvSpPr>
        <p:spPr>
          <a:xfrm>
            <a:off x="594360" y="2514600"/>
            <a:ext cx="3301898"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Verbose / always-on</a:t>
            </a:r>
            <a:endParaRPr lang="en-US" sz="1400" dirty="0"/>
          </a:p>
        </p:txBody>
      </p:sp>
      <p:sp>
        <p:nvSpPr>
          <p:cNvPr id="17" name="Text 15"/>
          <p:cNvSpPr/>
          <p:nvPr/>
        </p:nvSpPr>
        <p:spPr>
          <a:xfrm>
            <a:off x="594360" y="2971800"/>
            <a:ext cx="3301898" cy="365760"/>
          </a:xfrm>
          <a:prstGeom prst="rect">
            <a:avLst/>
          </a:prstGeom>
          <a:noFill/>
          <a:ln/>
        </p:spPr>
        <p:txBody>
          <a:bodyPr wrap="square" lIns="0" tIns="0" rIns="0" bIns="0" rtlCol="0" anchor="ctr"/>
          <a:lstStyle/>
          <a:p>
            <a:pPr indent="0" marL="0">
              <a:buNone/>
            </a:pPr>
            <a:r>
              <a:rPr lang="en-US" sz="1100" i="1" dirty="0">
                <a:solidFill>
                  <a:srgbClr val="5A6770"/>
                </a:solidFill>
                <a:latin typeface="Calibri" pitchFamily="34" charset="0"/>
                <a:ea typeface="Calibri" pitchFamily="34" charset="-122"/>
                <a:cs typeface="Calibri" pitchFamily="34" charset="-120"/>
              </a:rPr>
              <a:t>Routine status prose, every cycle.</a:t>
            </a:r>
            <a:endParaRPr lang="en-US" sz="1100" dirty="0"/>
          </a:p>
        </p:txBody>
      </p:sp>
      <p:sp>
        <p:nvSpPr>
          <p:cNvPr id="18" name="Text 16"/>
          <p:cNvSpPr/>
          <p:nvPr/>
        </p:nvSpPr>
        <p:spPr>
          <a:xfrm>
            <a:off x="594360" y="3429000"/>
            <a:ext cx="3301898" cy="256032"/>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19" name="Shape 17"/>
          <p:cNvSpPr/>
          <p:nvPr/>
        </p:nvSpPr>
        <p:spPr>
          <a:xfrm>
            <a:off x="594360" y="3703320"/>
            <a:ext cx="3301898" cy="1417320"/>
          </a:xfrm>
          <a:prstGeom prst="rect">
            <a:avLst/>
          </a:prstGeom>
          <a:solidFill>
            <a:srgbClr val="FFFFFF"/>
          </a:solidFill>
          <a:ln w="6350">
            <a:solidFill>
              <a:srgbClr val="C9D2D9"/>
            </a:solidFill>
            <a:prstDash val="solid"/>
          </a:ln>
        </p:spPr>
      </p:sp>
      <p:sp>
        <p:nvSpPr>
          <p:cNvPr id="20" name="Text 18"/>
          <p:cNvSpPr/>
          <p:nvPr/>
        </p:nvSpPr>
        <p:spPr>
          <a:xfrm>
            <a:off x="685800" y="3794760"/>
            <a:ext cx="3119018" cy="1280160"/>
          </a:xfrm>
          <a:prstGeom prst="rect">
            <a:avLst/>
          </a:prstGeom>
          <a:noFill/>
          <a:ln/>
        </p:spPr>
        <p:txBody>
          <a:bodyPr wrap="square" lIns="0" tIns="0" rIns="0" bIns="0" rtlCol="0" anchor="t"/>
          <a:lstStyle/>
          <a:p>
            <a:pPr indent="0" marL="0">
              <a:spcAft>
                <a:spcPts val="300"/>
              </a:spcAft>
              <a:buNone/>
            </a:pPr>
            <a:r>
              <a:rPr lang="en-US" sz="1000" dirty="0">
                <a:solidFill>
                  <a:srgbClr val="1A1A1A"/>
                </a:solidFill>
                <a:latin typeface="Consolas" pitchFamily="34" charset="0"/>
                <a:ea typeface="Consolas" pitchFamily="34" charset="-122"/>
                <a:cs typeface="Consolas" pitchFamily="34" charset="-120"/>
              </a:rPr>
              <a:t>"Scale-1 was 47.0 &gt; upper bound 45.0, auto-aid not engaged. Scale-2: 31.5, in range..."</a:t>
            </a:r>
            <a:endParaRPr lang="en-US" sz="1000" dirty="0"/>
          </a:p>
        </p:txBody>
      </p:sp>
      <p:sp>
        <p:nvSpPr>
          <p:cNvPr id="21" name="Text 19"/>
          <p:cNvSpPr/>
          <p:nvPr/>
        </p:nvSpPr>
        <p:spPr>
          <a:xfrm>
            <a:off x="594360" y="5212080"/>
            <a:ext cx="3301898" cy="731520"/>
          </a:xfrm>
          <a:prstGeom prst="rect">
            <a:avLst/>
          </a:prstGeom>
          <a:noFill/>
          <a:ln/>
        </p:spPr>
        <p:txBody>
          <a:bodyPr wrap="square" lIns="0" tIns="0" rIns="0" bIns="0" rtlCol="0" anchor="t"/>
          <a:lstStyle/>
          <a:p>
            <a:pPr indent="0" marL="0">
              <a:buNone/>
            </a:pPr>
            <a:r>
              <a:rPr lang="en-US" sz="1100" i="1" dirty="0">
                <a:solidFill>
                  <a:srgbClr val="5A6770"/>
                </a:solidFill>
                <a:latin typeface="Calibri" pitchFamily="34" charset="0"/>
                <a:ea typeface="Calibri" pitchFamily="34" charset="-122"/>
                <a:cs typeface="Calibri" pitchFamily="34" charset="-120"/>
              </a:rPr>
              <a:t>Embeds every fact in routine prose — fires on every automation cycle.</a:t>
            </a:r>
            <a:endParaRPr lang="en-US" sz="1100" dirty="0"/>
          </a:p>
        </p:txBody>
      </p:sp>
      <p:sp>
        <p:nvSpPr>
          <p:cNvPr id="22" name="Shape 20"/>
          <p:cNvSpPr/>
          <p:nvPr/>
        </p:nvSpPr>
        <p:spPr>
          <a:xfrm>
            <a:off x="4262018" y="1920240"/>
            <a:ext cx="3667658" cy="4114800"/>
          </a:xfrm>
          <a:prstGeom prst="rect">
            <a:avLst/>
          </a:prstGeom>
          <a:solidFill>
            <a:srgbClr val="F4F6F8"/>
          </a:solidFill>
          <a:ln w="9525">
            <a:solidFill>
              <a:srgbClr val="C9D2D9"/>
            </a:solidFill>
            <a:prstDash val="solid"/>
          </a:ln>
        </p:spPr>
      </p:sp>
      <p:sp>
        <p:nvSpPr>
          <p:cNvPr id="23" name="Shape 21"/>
          <p:cNvSpPr/>
          <p:nvPr/>
        </p:nvSpPr>
        <p:spPr>
          <a:xfrm>
            <a:off x="4262018" y="1920240"/>
            <a:ext cx="3667658" cy="91440"/>
          </a:xfrm>
          <a:prstGeom prst="rect">
            <a:avLst/>
          </a:prstGeom>
          <a:solidFill>
            <a:srgbClr val="143847"/>
          </a:solidFill>
          <a:ln w="12700">
            <a:solidFill>
              <a:srgbClr val="143847"/>
            </a:solidFill>
            <a:prstDash val="solid"/>
          </a:ln>
        </p:spPr>
      </p:sp>
      <p:sp>
        <p:nvSpPr>
          <p:cNvPr id="24" name="Text 22"/>
          <p:cNvSpPr/>
          <p:nvPr/>
        </p:nvSpPr>
        <p:spPr>
          <a:xfrm>
            <a:off x="4444898" y="2103120"/>
            <a:ext cx="1280160" cy="411480"/>
          </a:xfrm>
          <a:prstGeom prst="rect">
            <a:avLst/>
          </a:prstGeom>
          <a:noFill/>
          <a:ln/>
        </p:spPr>
        <p:txBody>
          <a:bodyPr wrap="square" lIns="0" tIns="0" rIns="0" bIns="0" rtlCol="0" anchor="ctr"/>
          <a:lstStyle/>
          <a:p>
            <a:pPr indent="0" marL="0">
              <a:buNone/>
            </a:pPr>
            <a:r>
              <a:rPr lang="en-US" sz="2200" b="1" dirty="0">
                <a:solidFill>
                  <a:srgbClr val="143847"/>
                </a:solidFill>
                <a:latin typeface="Calibri" pitchFamily="34" charset="0"/>
                <a:ea typeface="Calibri" pitchFamily="34" charset="-122"/>
                <a:cs typeface="Calibri" pitchFamily="34" charset="-120"/>
              </a:rPr>
              <a:t>F2</a:t>
            </a:r>
            <a:endParaRPr lang="en-US" sz="2200" dirty="0"/>
          </a:p>
        </p:txBody>
      </p:sp>
      <p:sp>
        <p:nvSpPr>
          <p:cNvPr id="25" name="Text 23"/>
          <p:cNvSpPr/>
          <p:nvPr/>
        </p:nvSpPr>
        <p:spPr>
          <a:xfrm>
            <a:off x="4444898" y="2514600"/>
            <a:ext cx="3301898"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Selective + contrastive</a:t>
            </a:r>
            <a:endParaRPr lang="en-US" sz="1400" dirty="0"/>
          </a:p>
        </p:txBody>
      </p:sp>
      <p:sp>
        <p:nvSpPr>
          <p:cNvPr id="26" name="Text 24"/>
          <p:cNvSpPr/>
          <p:nvPr/>
        </p:nvSpPr>
        <p:spPr>
          <a:xfrm>
            <a:off x="4444898" y="2971800"/>
            <a:ext cx="3301898" cy="365760"/>
          </a:xfrm>
          <a:prstGeom prst="rect">
            <a:avLst/>
          </a:prstGeom>
          <a:noFill/>
          <a:ln/>
        </p:spPr>
        <p:txBody>
          <a:bodyPr wrap="square" lIns="0" tIns="0" rIns="0" bIns="0" rtlCol="0" anchor="ctr"/>
          <a:lstStyle/>
          <a:p>
            <a:pPr indent="0" marL="0">
              <a:buNone/>
            </a:pPr>
            <a:r>
              <a:rPr lang="en-US" sz="1100" i="1" dirty="0">
                <a:solidFill>
                  <a:srgbClr val="5A6770"/>
                </a:solidFill>
                <a:latin typeface="Calibri" pitchFamily="34" charset="0"/>
                <a:ea typeface="Calibri" pitchFamily="34" charset="-122"/>
                <a:cs typeface="Calibri" pitchFamily="34" charset="-120"/>
              </a:rPr>
              <a:t>Panel only on near-miss / miss.</a:t>
            </a:r>
            <a:endParaRPr lang="en-US" sz="1100" dirty="0"/>
          </a:p>
        </p:txBody>
      </p:sp>
      <p:sp>
        <p:nvSpPr>
          <p:cNvPr id="27" name="Text 25"/>
          <p:cNvSpPr/>
          <p:nvPr/>
        </p:nvSpPr>
        <p:spPr>
          <a:xfrm>
            <a:off x="4444898" y="3429000"/>
            <a:ext cx="3301898" cy="256032"/>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28" name="Shape 26"/>
          <p:cNvSpPr/>
          <p:nvPr/>
        </p:nvSpPr>
        <p:spPr>
          <a:xfrm>
            <a:off x="4444898" y="3703320"/>
            <a:ext cx="3301898" cy="1417320"/>
          </a:xfrm>
          <a:prstGeom prst="rect">
            <a:avLst/>
          </a:prstGeom>
          <a:solidFill>
            <a:srgbClr val="FFFFFF"/>
          </a:solidFill>
          <a:ln w="6350">
            <a:solidFill>
              <a:srgbClr val="C9D2D9"/>
            </a:solidFill>
            <a:prstDash val="solid"/>
          </a:ln>
        </p:spPr>
      </p:sp>
      <p:sp>
        <p:nvSpPr>
          <p:cNvPr id="29" name="Text 27"/>
          <p:cNvSpPr/>
          <p:nvPr/>
        </p:nvSpPr>
        <p:spPr>
          <a:xfrm>
            <a:off x="4536338" y="3794760"/>
            <a:ext cx="3119018" cy="1280160"/>
          </a:xfrm>
          <a:prstGeom prst="rect">
            <a:avLst/>
          </a:prstGeom>
          <a:noFill/>
          <a:ln/>
        </p:spPr>
        <p:txBody>
          <a:bodyPr wrap="square" lIns="0" tIns="0" rIns="0" bIns="0" rtlCol="0" anchor="t"/>
          <a:lstStyle/>
          <a:p>
            <a:pPr indent="0" marL="0">
              <a:spcAft>
                <a:spcPts val="300"/>
              </a:spcAft>
              <a:buNone/>
            </a:pPr>
            <a:r>
              <a:rPr lang="en-US" sz="1000" dirty="0">
                <a:solidFill>
                  <a:srgbClr val="1A1A1A"/>
                </a:solidFill>
                <a:latin typeface="Consolas" pitchFamily="34" charset="0"/>
                <a:ea typeface="Consolas" pitchFamily="34" charset="-122"/>
                <a:cs typeface="Consolas" pitchFamily="34" charset="-120"/>
              </a:rPr>
              <a:t>"Reset scale-1 — would have failed in ~2.5 s."</a:t>
            </a:r>
            <a:endParaRPr lang="en-US" sz="1000" dirty="0"/>
          </a:p>
          <a:p>
            <a:pPr indent="0" marL="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p:txBody>
      </p:sp>
      <p:sp>
        <p:nvSpPr>
          <p:cNvPr id="30" name="Text 28"/>
          <p:cNvSpPr/>
          <p:nvPr/>
        </p:nvSpPr>
        <p:spPr>
          <a:xfrm>
            <a:off x="4444898" y="5212080"/>
            <a:ext cx="3301898" cy="731520"/>
          </a:xfrm>
          <a:prstGeom prst="rect">
            <a:avLst/>
          </a:prstGeom>
          <a:noFill/>
          <a:ln/>
        </p:spPr>
        <p:txBody>
          <a:bodyPr wrap="square" lIns="0" tIns="0" rIns="0" bIns="0" rtlCol="0" anchor="t"/>
          <a:lstStyle/>
          <a:p>
            <a:pPr indent="0" marL="0">
              <a:buNone/>
            </a:pPr>
            <a:r>
              <a:rPr lang="en-US" sz="1100" i="1" dirty="0">
                <a:solidFill>
                  <a:srgbClr val="5A6770"/>
                </a:solidFill>
                <a:latin typeface="Calibri" pitchFamily="34" charset="0"/>
                <a:ea typeface="Calibri" pitchFamily="34" charset="-122"/>
                <a:cs typeface="Calibri" pitchFamily="34" charset="-120"/>
              </a:rPr>
              <a:t>Same facts as F1, reframed selectively and contrastively.</a:t>
            </a:r>
            <a:endParaRPr lang="en-US" sz="1100" dirty="0"/>
          </a:p>
        </p:txBody>
      </p:sp>
      <p:sp>
        <p:nvSpPr>
          <p:cNvPr id="31" name="Shape 29"/>
          <p:cNvSpPr/>
          <p:nvPr/>
        </p:nvSpPr>
        <p:spPr>
          <a:xfrm>
            <a:off x="8112557" y="1920240"/>
            <a:ext cx="3667658" cy="4114800"/>
          </a:xfrm>
          <a:prstGeom prst="rect">
            <a:avLst/>
          </a:prstGeom>
          <a:solidFill>
            <a:srgbClr val="F4F6F8"/>
          </a:solidFill>
          <a:ln w="9525">
            <a:solidFill>
              <a:srgbClr val="C9D2D9"/>
            </a:solidFill>
            <a:prstDash val="solid"/>
          </a:ln>
        </p:spPr>
      </p:sp>
      <p:sp>
        <p:nvSpPr>
          <p:cNvPr id="32" name="Shape 30"/>
          <p:cNvSpPr/>
          <p:nvPr/>
        </p:nvSpPr>
        <p:spPr>
          <a:xfrm>
            <a:off x="8112557" y="1920240"/>
            <a:ext cx="3667658" cy="91440"/>
          </a:xfrm>
          <a:prstGeom prst="rect">
            <a:avLst/>
          </a:prstGeom>
          <a:solidFill>
            <a:srgbClr val="143847"/>
          </a:solidFill>
          <a:ln w="12700">
            <a:solidFill>
              <a:srgbClr val="143847"/>
            </a:solidFill>
            <a:prstDash val="solid"/>
          </a:ln>
        </p:spPr>
      </p:sp>
      <p:sp>
        <p:nvSpPr>
          <p:cNvPr id="33" name="Text 31"/>
          <p:cNvSpPr/>
          <p:nvPr/>
        </p:nvSpPr>
        <p:spPr>
          <a:xfrm>
            <a:off x="8295437" y="2103120"/>
            <a:ext cx="1280160" cy="411480"/>
          </a:xfrm>
          <a:prstGeom prst="rect">
            <a:avLst/>
          </a:prstGeom>
          <a:noFill/>
          <a:ln/>
        </p:spPr>
        <p:txBody>
          <a:bodyPr wrap="square" lIns="0" tIns="0" rIns="0" bIns="0" rtlCol="0" anchor="ctr"/>
          <a:lstStyle/>
          <a:p>
            <a:pPr indent="0" marL="0">
              <a:buNone/>
            </a:pPr>
            <a:r>
              <a:rPr lang="en-US" sz="2200" b="1" dirty="0">
                <a:solidFill>
                  <a:srgbClr val="143847"/>
                </a:solidFill>
                <a:latin typeface="Calibri" pitchFamily="34" charset="0"/>
                <a:ea typeface="Calibri" pitchFamily="34" charset="-122"/>
                <a:cs typeface="Calibri" pitchFamily="34" charset="-120"/>
              </a:rPr>
              <a:t>F3</a:t>
            </a:r>
            <a:endParaRPr lang="en-US" sz="2200" dirty="0"/>
          </a:p>
        </p:txBody>
      </p:sp>
      <p:sp>
        <p:nvSpPr>
          <p:cNvPr id="34" name="Text 32"/>
          <p:cNvSpPr/>
          <p:nvPr/>
        </p:nvSpPr>
        <p:spPr>
          <a:xfrm>
            <a:off x="8295437" y="2514600"/>
            <a:ext cx="3301898"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Selective + contrastive + actionable</a:t>
            </a:r>
            <a:endParaRPr lang="en-US" sz="1400" dirty="0"/>
          </a:p>
        </p:txBody>
      </p:sp>
      <p:sp>
        <p:nvSpPr>
          <p:cNvPr id="35" name="Text 33"/>
          <p:cNvSpPr/>
          <p:nvPr/>
        </p:nvSpPr>
        <p:spPr>
          <a:xfrm>
            <a:off x="8295437" y="2971800"/>
            <a:ext cx="3301898" cy="365760"/>
          </a:xfrm>
          <a:prstGeom prst="rect">
            <a:avLst/>
          </a:prstGeom>
          <a:noFill/>
          <a:ln/>
        </p:spPr>
        <p:txBody>
          <a:bodyPr wrap="square" lIns="0" tIns="0" rIns="0" bIns="0" rtlCol="0" anchor="ctr"/>
          <a:lstStyle/>
          <a:p>
            <a:pPr indent="0" marL="0">
              <a:buNone/>
            </a:pPr>
            <a:r>
              <a:rPr lang="en-US" sz="1100" i="1" dirty="0">
                <a:solidFill>
                  <a:srgbClr val="5A6770"/>
                </a:solidFill>
                <a:latin typeface="Calibri" pitchFamily="34" charset="0"/>
                <a:ea typeface="Calibri" pitchFamily="34" charset="-122"/>
                <a:cs typeface="Calibri" pitchFamily="34" charset="-120"/>
              </a:rPr>
              <a:t>F2 plus an explicit operator cue on misses.</a:t>
            </a:r>
            <a:endParaRPr lang="en-US" sz="1100" dirty="0"/>
          </a:p>
        </p:txBody>
      </p:sp>
      <p:sp>
        <p:nvSpPr>
          <p:cNvPr id="36" name="Text 34"/>
          <p:cNvSpPr/>
          <p:nvPr/>
        </p:nvSpPr>
        <p:spPr>
          <a:xfrm>
            <a:off x="8295437" y="3429000"/>
            <a:ext cx="3301898" cy="256032"/>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37" name="Shape 35"/>
          <p:cNvSpPr/>
          <p:nvPr/>
        </p:nvSpPr>
        <p:spPr>
          <a:xfrm>
            <a:off x="8295437" y="3703320"/>
            <a:ext cx="3301898" cy="1417320"/>
          </a:xfrm>
          <a:prstGeom prst="rect">
            <a:avLst/>
          </a:prstGeom>
          <a:solidFill>
            <a:srgbClr val="FFFFFF"/>
          </a:solidFill>
          <a:ln w="6350">
            <a:solidFill>
              <a:srgbClr val="C9D2D9"/>
            </a:solidFill>
            <a:prstDash val="solid"/>
          </a:ln>
        </p:spPr>
      </p:sp>
      <p:sp>
        <p:nvSpPr>
          <p:cNvPr id="38" name="Text 36"/>
          <p:cNvSpPr/>
          <p:nvPr/>
        </p:nvSpPr>
        <p:spPr>
          <a:xfrm>
            <a:off x="8386877" y="3794760"/>
            <a:ext cx="3119018" cy="1280160"/>
          </a:xfrm>
          <a:prstGeom prst="rect">
            <a:avLst/>
          </a:prstGeom>
          <a:noFill/>
          <a:ln/>
        </p:spPr>
        <p:txBody>
          <a:bodyPr wrap="square" lIns="0" tIns="0" rIns="0" bIns="0" rtlCol="0" anchor="t"/>
          <a:lstStyle/>
          <a:p>
            <a:pPr indent="0" marL="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a:p>
            <a:pPr indent="0" marL="0">
              <a:spcAft>
                <a:spcPts val="300"/>
              </a:spcAft>
              <a:buNone/>
            </a:pPr>
            <a:r>
              <a:rPr lang="en-US" sz="1000" dirty="0">
                <a:solidFill>
                  <a:srgbClr val="1A1A1A"/>
                </a:solidFill>
                <a:latin typeface="Consolas" pitchFamily="34" charset="0"/>
                <a:ea typeface="Consolas" pitchFamily="34" charset="-122"/>
                <a:cs typeface="Consolas" pitchFamily="34" charset="-120"/>
              </a:rPr>
              <a:t>"Check it yourself."</a:t>
            </a:r>
            <a:endParaRPr lang="en-US" sz="1000" dirty="0"/>
          </a:p>
        </p:txBody>
      </p:sp>
      <p:sp>
        <p:nvSpPr>
          <p:cNvPr id="39" name="Text 37"/>
          <p:cNvSpPr/>
          <p:nvPr/>
        </p:nvSpPr>
        <p:spPr>
          <a:xfrm>
            <a:off x="8295437" y="5212080"/>
            <a:ext cx="3301898" cy="731520"/>
          </a:xfrm>
          <a:prstGeom prst="rect">
            <a:avLst/>
          </a:prstGeom>
          <a:noFill/>
          <a:ln/>
        </p:spPr>
        <p:txBody>
          <a:bodyPr wrap="square" lIns="0" tIns="0" rIns="0" bIns="0" rtlCol="0" anchor="t"/>
          <a:lstStyle/>
          <a:p>
            <a:pPr indent="0" marL="0">
              <a:buNone/>
            </a:pPr>
            <a:r>
              <a:rPr lang="en-US" sz="1100" i="1" dirty="0">
                <a:solidFill>
                  <a:srgbClr val="5A6770"/>
                </a:solidFill>
                <a:latin typeface="Calibri" pitchFamily="34" charset="0"/>
                <a:ea typeface="Calibri" pitchFamily="34" charset="-122"/>
                <a:cs typeface="Calibri" pitchFamily="34" charset="-120"/>
              </a:rPr>
              <a:t>F3 minus F2 = the actionable cue, isolated.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algn="r" indent="0" marL="0">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algn="r" indent="0" marL="0">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algn="r" indent="0" marL="0">
              <a:buNone/>
            </a:pPr>
            <a:r>
              <a:rPr lang="en-US" sz="900" dirty="0">
                <a:solidFill>
                  <a:srgbClr val="5A6770"/>
                </a:solidFill>
                <a:latin typeface="Calibri" pitchFamily="34" charset="0"/>
                <a:ea typeface="Calibri" pitchFamily="34" charset="-122"/>
                <a:cs typeface="Calibri" pitchFamily="34" charset="-120"/>
              </a:rPr>
              <a:t>4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indent="0" marL="0">
              <a:buNone/>
            </a:pPr>
            <a:r>
              <a:rPr lang="en-US" sz="2600" b="1" dirty="0">
                <a:solidFill>
                  <a:srgbClr val="143847"/>
                </a:solidFill>
                <a:latin typeface="Calibri" pitchFamily="34" charset="0"/>
                <a:ea typeface="Calibri" pitchFamily="34" charset="-122"/>
                <a:cs typeface="Calibri" pitchFamily="34" charset="-120"/>
              </a:rPr>
              <a:t>Research question &amp; hypotheses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indent="0" marL="0">
              <a:buNone/>
            </a:pPr>
            <a:r>
              <a:rPr lang="en-US" sz="1300" i="1" dirty="0">
                <a:solidFill>
                  <a:srgbClr val="5A6770"/>
                </a:solidFill>
                <a:latin typeface="Calibri" pitchFamily="34" charset="0"/>
                <a:ea typeface="Calibri" pitchFamily="34" charset="-122"/>
                <a:cs typeface="Calibri" pitchFamily="34" charset="-120"/>
              </a:rPr>
              <a:t>Holding information content constant, does the form of a reasoning explanation produce explicability?</a:t>
            </a:r>
            <a:endParaRPr lang="en-US" sz="1300" dirty="0"/>
          </a:p>
        </p:txBody>
      </p:sp>
      <p:sp>
        <p:nvSpPr>
          <p:cNvPr id="13" name="Shape 11"/>
          <p:cNvSpPr/>
          <p:nvPr/>
        </p:nvSpPr>
        <p:spPr>
          <a:xfrm>
            <a:off x="411480" y="1874520"/>
            <a:ext cx="11368735" cy="868680"/>
          </a:xfrm>
          <a:prstGeom prst="rect">
            <a:avLst/>
          </a:prstGeom>
          <a:solidFill>
            <a:srgbClr val="F4F6F8"/>
          </a:solidFill>
          <a:ln w="9525">
            <a:solidFill>
              <a:srgbClr val="C9D2D9"/>
            </a:solidFill>
            <a:prstDash val="solid"/>
          </a:ln>
        </p:spPr>
      </p:sp>
      <p:sp>
        <p:nvSpPr>
          <p:cNvPr id="14" name="Shape 12"/>
          <p:cNvSpPr/>
          <p:nvPr/>
        </p:nvSpPr>
        <p:spPr>
          <a:xfrm>
            <a:off x="411480" y="1874520"/>
            <a:ext cx="91440" cy="868680"/>
          </a:xfrm>
          <a:prstGeom prst="rect">
            <a:avLst/>
          </a:prstGeom>
          <a:solidFill>
            <a:srgbClr val="143847"/>
          </a:solidFill>
          <a:ln w="12700">
            <a:solidFill>
              <a:srgbClr val="143847"/>
            </a:solidFill>
            <a:prstDash val="solid"/>
          </a:ln>
        </p:spPr>
      </p:sp>
      <p:sp>
        <p:nvSpPr>
          <p:cNvPr id="15" name="Text 13"/>
          <p:cNvSpPr/>
          <p:nvPr/>
        </p:nvSpPr>
        <p:spPr>
          <a:xfrm>
            <a:off x="640080" y="1920240"/>
            <a:ext cx="11140135" cy="274320"/>
          </a:xfrm>
          <a:prstGeom prst="rect">
            <a:avLst/>
          </a:prstGeom>
          <a:noFill/>
          <a:ln/>
        </p:spPr>
        <p:txBody>
          <a:bodyPr wrap="square" lIns="0" tIns="0" rIns="0" bIns="0" rtlCol="0" anchor="ctr"/>
          <a:lstStyle/>
          <a:p>
            <a:pPr indent="0" marL="0">
              <a:buNone/>
            </a:pPr>
            <a:r>
              <a:rPr lang="en-US" sz="1200" b="1" dirty="0">
                <a:solidFill>
                  <a:srgbClr val="143847"/>
                </a:solidFill>
                <a:latin typeface="Calibri" pitchFamily="34" charset="0"/>
                <a:ea typeface="Calibri" pitchFamily="34" charset="-122"/>
                <a:cs typeface="Calibri" pitchFamily="34" charset="-120"/>
              </a:rPr>
              <a:t>Research question</a:t>
            </a:r>
            <a:endParaRPr lang="en-US" sz="1200" dirty="0"/>
          </a:p>
        </p:txBody>
      </p:sp>
      <p:sp>
        <p:nvSpPr>
          <p:cNvPr id="16" name="Text 14"/>
          <p:cNvSpPr/>
          <p:nvPr/>
        </p:nvSpPr>
        <p:spPr>
          <a:xfrm>
            <a:off x="640080" y="2194560"/>
            <a:ext cx="11140135" cy="54864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In a multitasking supervisory-control environment with an imperfect automation aid that communicates its reasoning, does the form of the explanation — varied along Miller's criteria of selectivity, contrastiveness and actionability — produce measurable mental-model alignment and improved detection of automation errors, beyond what an equally informative but verbose always-on explanation provides?</a:t>
            </a:r>
            <a:endParaRPr lang="en-US" sz="1100" dirty="0"/>
          </a:p>
        </p:txBody>
      </p:sp>
      <p:sp>
        <p:nvSpPr>
          <p:cNvPr id="17" name="Text 15"/>
          <p:cNvSpPr/>
          <p:nvPr/>
        </p:nvSpPr>
        <p:spPr>
          <a:xfrm>
            <a:off x="411480" y="2880360"/>
            <a:ext cx="11368735" cy="274320"/>
          </a:xfrm>
          <a:prstGeom prst="rect">
            <a:avLst/>
          </a:prstGeom>
          <a:noFill/>
          <a:ln/>
        </p:spPr>
        <p:txBody>
          <a:bodyPr wrap="square" lIns="0" tIns="0" rIns="0" bIns="0" rtlCol="0" anchor="ctr"/>
          <a:lstStyle/>
          <a:p>
            <a:pPr indent="0" marL="0">
              <a:buNone/>
            </a:pPr>
            <a:r>
              <a:rPr lang="en-US" sz="1200" b="1" dirty="0">
                <a:solidFill>
                  <a:srgbClr val="143847"/>
                </a:solidFill>
                <a:latin typeface="Calibri" pitchFamily="34" charset="0"/>
                <a:ea typeface="Calibri" pitchFamily="34" charset="-122"/>
                <a:cs typeface="Calibri" pitchFamily="34" charset="-120"/>
              </a:rPr>
              <a:t>Hypotheses  ·  H1 and H2 are the load-bearing pair</a:t>
            </a:r>
            <a:endParaRPr lang="en-US" sz="1200" dirty="0"/>
          </a:p>
        </p:txBody>
      </p:sp>
      <p:sp>
        <p:nvSpPr>
          <p:cNvPr id="18" name="Shape 16"/>
          <p:cNvSpPr/>
          <p:nvPr/>
        </p:nvSpPr>
        <p:spPr>
          <a:xfrm>
            <a:off x="411480" y="3200400"/>
            <a:ext cx="5592928" cy="1554480"/>
          </a:xfrm>
          <a:prstGeom prst="rect">
            <a:avLst/>
          </a:prstGeom>
          <a:solidFill>
            <a:srgbClr val="FFFFFF"/>
          </a:solidFill>
          <a:ln w="9525">
            <a:solidFill>
              <a:srgbClr val="C9D2D9"/>
            </a:solidFill>
            <a:prstDash val="solid"/>
          </a:ln>
        </p:spPr>
      </p:sp>
      <p:sp>
        <p:nvSpPr>
          <p:cNvPr id="19" name="Shape 17"/>
          <p:cNvSpPr/>
          <p:nvPr/>
        </p:nvSpPr>
        <p:spPr>
          <a:xfrm>
            <a:off x="411480" y="3200400"/>
            <a:ext cx="73152" cy="1554480"/>
          </a:xfrm>
          <a:prstGeom prst="rect">
            <a:avLst/>
          </a:prstGeom>
          <a:solidFill>
            <a:srgbClr val="8C1D2C"/>
          </a:solidFill>
          <a:ln w="12700">
            <a:solidFill>
              <a:srgbClr val="8C1D2C"/>
            </a:solidFill>
            <a:prstDash val="solid"/>
          </a:ln>
        </p:spPr>
      </p:sp>
      <p:sp>
        <p:nvSpPr>
          <p:cNvPr id="20" name="Text 18"/>
          <p:cNvSpPr/>
          <p:nvPr/>
        </p:nvSpPr>
        <p:spPr>
          <a:xfrm>
            <a:off x="594360" y="3291840"/>
            <a:ext cx="5318608" cy="502920"/>
          </a:xfrm>
          <a:prstGeom prst="rect">
            <a:avLst/>
          </a:prstGeom>
          <a:noFill/>
          <a:ln/>
        </p:spPr>
        <p:txBody>
          <a:bodyPr wrap="square" lIns="0" tIns="0" rIns="0" bIns="0" rtlCol="0" anchor="t"/>
          <a:lstStyle/>
          <a:p>
            <a:pPr indent="0" marL="0">
              <a:buNone/>
            </a:pPr>
            <a:r>
              <a:rPr lang="en-US" sz="1300" b="1" dirty="0">
                <a:solidFill>
                  <a:srgbClr val="8C1D2C"/>
                </a:solidFill>
                <a:latin typeface="Calibri" pitchFamily="34" charset="0"/>
                <a:ea typeface="Calibri" pitchFamily="34" charset="-122"/>
                <a:cs typeface="Calibri" pitchFamily="34" charset="-120"/>
              </a:rPr>
              <a:t>H1  </a:t>
            </a:r>
            <a:pPr indent="0" marL="0">
              <a:buNone/>
            </a:pPr>
            <a:r>
              <a:rPr lang="en-US" sz="1200" b="1" dirty="0">
                <a:solidFill>
                  <a:srgbClr val="1A1A1A"/>
                </a:solidFill>
                <a:latin typeface="Calibri" pitchFamily="34" charset="0"/>
                <a:ea typeface="Calibri" pitchFamily="34" charset="-122"/>
                <a:cs typeface="Calibri" pitchFamily="34" charset="-120"/>
              </a:rPr>
              <a:t>Perceived informativeness vs. actual understanding (headline)</a:t>
            </a:r>
            <a:endParaRPr lang="en-US" sz="1300" dirty="0"/>
          </a:p>
        </p:txBody>
      </p:sp>
      <p:sp>
        <p:nvSpPr>
          <p:cNvPr id="21" name="Text 19"/>
          <p:cNvSpPr/>
          <p:nvPr/>
        </p:nvSpPr>
        <p:spPr>
          <a:xfrm>
            <a:off x="594360" y="3703320"/>
            <a:ext cx="5318608" cy="96012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Subjective transparency highest under F1; objective mental-model accuracy highest under F2/F3. The crossover operationalises explainability ≠ explicability.</a:t>
            </a:r>
            <a:endParaRPr lang="en-US" sz="1100" dirty="0"/>
          </a:p>
        </p:txBody>
      </p:sp>
      <p:sp>
        <p:nvSpPr>
          <p:cNvPr id="22" name="Shape 20"/>
          <p:cNvSpPr/>
          <p:nvPr/>
        </p:nvSpPr>
        <p:spPr>
          <a:xfrm>
            <a:off x="6187288" y="3200400"/>
            <a:ext cx="5592928" cy="1554480"/>
          </a:xfrm>
          <a:prstGeom prst="rect">
            <a:avLst/>
          </a:prstGeom>
          <a:solidFill>
            <a:srgbClr val="FFFFFF"/>
          </a:solidFill>
          <a:ln w="9525">
            <a:solidFill>
              <a:srgbClr val="C9D2D9"/>
            </a:solidFill>
            <a:prstDash val="solid"/>
          </a:ln>
        </p:spPr>
      </p:sp>
      <p:sp>
        <p:nvSpPr>
          <p:cNvPr id="23" name="Shape 21"/>
          <p:cNvSpPr/>
          <p:nvPr/>
        </p:nvSpPr>
        <p:spPr>
          <a:xfrm>
            <a:off x="6187288" y="3200400"/>
            <a:ext cx="73152" cy="1554480"/>
          </a:xfrm>
          <a:prstGeom prst="rect">
            <a:avLst/>
          </a:prstGeom>
          <a:solidFill>
            <a:srgbClr val="8C1D2C"/>
          </a:solidFill>
          <a:ln w="12700">
            <a:solidFill>
              <a:srgbClr val="8C1D2C"/>
            </a:solidFill>
            <a:prstDash val="solid"/>
          </a:ln>
        </p:spPr>
      </p:sp>
      <p:sp>
        <p:nvSpPr>
          <p:cNvPr id="24" name="Text 22"/>
          <p:cNvSpPr/>
          <p:nvPr/>
        </p:nvSpPr>
        <p:spPr>
          <a:xfrm>
            <a:off x="6370168" y="3291840"/>
            <a:ext cx="5318608" cy="502920"/>
          </a:xfrm>
          <a:prstGeom prst="rect">
            <a:avLst/>
          </a:prstGeom>
          <a:noFill/>
          <a:ln/>
        </p:spPr>
        <p:txBody>
          <a:bodyPr wrap="square" lIns="0" tIns="0" rIns="0" bIns="0" rtlCol="0" anchor="t"/>
          <a:lstStyle/>
          <a:p>
            <a:pPr indent="0" marL="0">
              <a:buNone/>
            </a:pPr>
            <a:r>
              <a:rPr lang="en-US" sz="1300" b="1" dirty="0">
                <a:solidFill>
                  <a:srgbClr val="8C1D2C"/>
                </a:solidFill>
                <a:latin typeface="Calibri" pitchFamily="34" charset="0"/>
                <a:ea typeface="Calibri" pitchFamily="34" charset="-122"/>
                <a:cs typeface="Calibri" pitchFamily="34" charset="-120"/>
              </a:rPr>
              <a:t>H2  </a:t>
            </a:r>
            <a:pPr indent="0" marL="0">
              <a:buNone/>
            </a:pPr>
            <a:r>
              <a:rPr lang="en-US" sz="1200" b="1" dirty="0">
                <a:solidFill>
                  <a:srgbClr val="1A1A1A"/>
                </a:solidFill>
                <a:latin typeface="Calibri" pitchFamily="34" charset="0"/>
                <a:ea typeface="Calibri" pitchFamily="34" charset="-122"/>
                <a:cs typeface="Calibri" pitchFamily="34" charset="-120"/>
              </a:rPr>
              <a:t>Form modulates explicability</a:t>
            </a:r>
            <a:endParaRPr lang="en-US" sz="1300" dirty="0"/>
          </a:p>
        </p:txBody>
      </p:sp>
      <p:sp>
        <p:nvSpPr>
          <p:cNvPr id="25" name="Text 23"/>
          <p:cNvSpPr/>
          <p:nvPr/>
        </p:nvSpPr>
        <p:spPr>
          <a:xfrm>
            <a:off x="6370168" y="3703320"/>
            <a:ext cx="5318608" cy="96012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Post-block mental-model accuracy higher under F2/F3 than F1 — even with information content matched. Selectivity + contrastive framing make the relevant facts easier to extract under load.</a:t>
            </a:r>
            <a:endParaRPr lang="en-US" sz="1100" dirty="0"/>
          </a:p>
        </p:txBody>
      </p:sp>
      <p:sp>
        <p:nvSpPr>
          <p:cNvPr id="26" name="Shape 24"/>
          <p:cNvSpPr/>
          <p:nvPr/>
        </p:nvSpPr>
        <p:spPr>
          <a:xfrm>
            <a:off x="411480" y="4846320"/>
            <a:ext cx="5592928" cy="1554480"/>
          </a:xfrm>
          <a:prstGeom prst="rect">
            <a:avLst/>
          </a:prstGeom>
          <a:solidFill>
            <a:srgbClr val="FFFFFF"/>
          </a:solidFill>
          <a:ln w="9525">
            <a:solidFill>
              <a:srgbClr val="C9D2D9"/>
            </a:solidFill>
            <a:prstDash val="solid"/>
          </a:ln>
        </p:spPr>
      </p:sp>
      <p:sp>
        <p:nvSpPr>
          <p:cNvPr id="27" name="Shape 25"/>
          <p:cNvSpPr/>
          <p:nvPr/>
        </p:nvSpPr>
        <p:spPr>
          <a:xfrm>
            <a:off x="411480" y="4846320"/>
            <a:ext cx="73152" cy="1554480"/>
          </a:xfrm>
          <a:prstGeom prst="rect">
            <a:avLst/>
          </a:prstGeom>
          <a:solidFill>
            <a:srgbClr val="143847"/>
          </a:solidFill>
          <a:ln w="12700">
            <a:solidFill>
              <a:srgbClr val="143847"/>
            </a:solidFill>
            <a:prstDash val="solid"/>
          </a:ln>
        </p:spPr>
      </p:sp>
      <p:sp>
        <p:nvSpPr>
          <p:cNvPr id="28" name="Text 26"/>
          <p:cNvSpPr/>
          <p:nvPr/>
        </p:nvSpPr>
        <p:spPr>
          <a:xfrm>
            <a:off x="594360" y="4937760"/>
            <a:ext cx="5318608" cy="502920"/>
          </a:xfrm>
          <a:prstGeom prst="rect">
            <a:avLst/>
          </a:prstGeom>
          <a:noFill/>
          <a:ln/>
        </p:spPr>
        <p:txBody>
          <a:bodyPr wrap="square" lIns="0" tIns="0" rIns="0" bIns="0" rtlCol="0" anchor="t"/>
          <a:lstStyle/>
          <a:p>
            <a:pPr indent="0" marL="0">
              <a:buNone/>
            </a:pPr>
            <a:r>
              <a:rPr lang="en-US" sz="1300" b="1" dirty="0">
                <a:solidFill>
                  <a:srgbClr val="143847"/>
                </a:solidFill>
                <a:latin typeface="Calibri" pitchFamily="34" charset="0"/>
                <a:ea typeface="Calibri" pitchFamily="34" charset="-122"/>
                <a:cs typeface="Calibri" pitchFamily="34" charset="-120"/>
              </a:rPr>
              <a:t>H3  </a:t>
            </a:r>
            <a:pPr indent="0" marL="0">
              <a:buNone/>
            </a:pPr>
            <a:r>
              <a:rPr lang="en-US" sz="1200" b="1" dirty="0">
                <a:solidFill>
                  <a:srgbClr val="1A1A1A"/>
                </a:solidFill>
                <a:latin typeface="Calibri" pitchFamily="34" charset="0"/>
                <a:ea typeface="Calibri" pitchFamily="34" charset="-122"/>
                <a:cs typeface="Calibri" pitchFamily="34" charset="-120"/>
              </a:rPr>
              <a:t>Selectivity directs attention to anomalies</a:t>
            </a:r>
            <a:endParaRPr lang="en-US" sz="1300" dirty="0"/>
          </a:p>
        </p:txBody>
      </p:sp>
      <p:sp>
        <p:nvSpPr>
          <p:cNvPr id="29" name="Text 27"/>
          <p:cNvSpPr/>
          <p:nvPr/>
        </p:nvSpPr>
        <p:spPr>
          <a:xfrm>
            <a:off x="594360" y="5349240"/>
            <a:ext cx="5318608" cy="96012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Detection rate of automation-missed events higher under F2/F3 than F1 — even though F1 announces those events too (embedded in routine status prose).</a:t>
            </a:r>
            <a:endParaRPr lang="en-US" sz="1100" dirty="0"/>
          </a:p>
        </p:txBody>
      </p:sp>
      <p:sp>
        <p:nvSpPr>
          <p:cNvPr id="30" name="Shape 28"/>
          <p:cNvSpPr/>
          <p:nvPr/>
        </p:nvSpPr>
        <p:spPr>
          <a:xfrm>
            <a:off x="6187288" y="4846320"/>
            <a:ext cx="5592928" cy="1554480"/>
          </a:xfrm>
          <a:prstGeom prst="rect">
            <a:avLst/>
          </a:prstGeom>
          <a:solidFill>
            <a:srgbClr val="FFFFFF"/>
          </a:solidFill>
          <a:ln w="9525">
            <a:solidFill>
              <a:srgbClr val="C9D2D9"/>
            </a:solidFill>
            <a:prstDash val="solid"/>
          </a:ln>
        </p:spPr>
      </p:sp>
      <p:sp>
        <p:nvSpPr>
          <p:cNvPr id="31" name="Shape 29"/>
          <p:cNvSpPr/>
          <p:nvPr/>
        </p:nvSpPr>
        <p:spPr>
          <a:xfrm>
            <a:off x="6187288" y="4846320"/>
            <a:ext cx="73152" cy="1554480"/>
          </a:xfrm>
          <a:prstGeom prst="rect">
            <a:avLst/>
          </a:prstGeom>
          <a:solidFill>
            <a:srgbClr val="143847"/>
          </a:solidFill>
          <a:ln w="12700">
            <a:solidFill>
              <a:srgbClr val="143847"/>
            </a:solidFill>
            <a:prstDash val="solid"/>
          </a:ln>
        </p:spPr>
      </p:sp>
      <p:sp>
        <p:nvSpPr>
          <p:cNvPr id="32" name="Text 30"/>
          <p:cNvSpPr/>
          <p:nvPr/>
        </p:nvSpPr>
        <p:spPr>
          <a:xfrm>
            <a:off x="6370168" y="4937760"/>
            <a:ext cx="5318608" cy="502920"/>
          </a:xfrm>
          <a:prstGeom prst="rect">
            <a:avLst/>
          </a:prstGeom>
          <a:noFill/>
          <a:ln/>
        </p:spPr>
        <p:txBody>
          <a:bodyPr wrap="square" lIns="0" tIns="0" rIns="0" bIns="0" rtlCol="0" anchor="t"/>
          <a:lstStyle/>
          <a:p>
            <a:pPr indent="0" marL="0">
              <a:buNone/>
            </a:pPr>
            <a:r>
              <a:rPr lang="en-US" sz="1300" b="1" dirty="0">
                <a:solidFill>
                  <a:srgbClr val="143847"/>
                </a:solidFill>
                <a:latin typeface="Calibri" pitchFamily="34" charset="0"/>
                <a:ea typeface="Calibri" pitchFamily="34" charset="-122"/>
                <a:cs typeface="Calibri" pitchFamily="34" charset="-120"/>
              </a:rPr>
              <a:t>H4  </a:t>
            </a:r>
            <a:pPr indent="0" marL="0">
              <a:buNone/>
            </a:pPr>
            <a:r>
              <a:rPr lang="en-US" sz="1200" b="1" dirty="0">
                <a:solidFill>
                  <a:srgbClr val="1A1A1A"/>
                </a:solidFill>
                <a:latin typeface="Calibri" pitchFamily="34" charset="0"/>
                <a:ea typeface="Calibri" pitchFamily="34" charset="-122"/>
                <a:cs typeface="Calibri" pitchFamily="34" charset="-120"/>
              </a:rPr>
              <a:t>Saved attention is redeployed</a:t>
            </a:r>
            <a:endParaRPr lang="en-US" sz="1300" dirty="0"/>
          </a:p>
        </p:txBody>
      </p:sp>
      <p:sp>
        <p:nvSpPr>
          <p:cNvPr id="33" name="Text 31"/>
          <p:cNvSpPr/>
          <p:nvPr/>
        </p:nvSpPr>
        <p:spPr>
          <a:xfrm>
            <a:off x="6370168" y="5349240"/>
            <a:ext cx="5318608" cy="96012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Performance on the non-automated tasks (communications, scheduling) higher under F2/F3 than F1 — reading less in the panel frees capacity for tasks the aid does not support.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algn="r" indent="0" marL="0">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algn="r" indent="0" marL="0">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algn="r" indent="0" marL="0">
              <a:buNone/>
            </a:pPr>
            <a:r>
              <a:rPr lang="en-US" sz="900" dirty="0">
                <a:solidFill>
                  <a:srgbClr val="5A6770"/>
                </a:solidFill>
                <a:latin typeface="Calibri" pitchFamily="34" charset="0"/>
                <a:ea typeface="Calibri" pitchFamily="34" charset="-122"/>
                <a:cs typeface="Calibri" pitchFamily="34" charset="-120"/>
              </a:rPr>
              <a:t>5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indent="0" marL="0">
              <a:buNone/>
            </a:pPr>
            <a:r>
              <a:rPr lang="en-US" sz="2600" b="1" dirty="0">
                <a:solidFill>
                  <a:srgbClr val="143847"/>
                </a:solidFill>
                <a:latin typeface="Calibri" pitchFamily="34" charset="0"/>
                <a:ea typeface="Calibri" pitchFamily="34" charset="-122"/>
                <a:cs typeface="Calibri" pitchFamily="34" charset="-120"/>
              </a:rPr>
              <a:t>Method</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indent="0" marL="0">
              <a:buNone/>
            </a:pPr>
            <a:r>
              <a:rPr lang="en-US" sz="1300" i="1" dirty="0">
                <a:solidFill>
                  <a:srgbClr val="5A6770"/>
                </a:solidFill>
                <a:latin typeface="Calibri" pitchFamily="34" charset="0"/>
                <a:ea typeface="Calibri" pitchFamily="34" charset="-122"/>
                <a:cs typeface="Calibri" pitchFamily="34" charset="-120"/>
              </a:rPr>
              <a:t>Within-subjects on the OpenMATB platform · ~20 min per participant.</a:t>
            </a:r>
            <a:endParaRPr lang="en-US" sz="1300" dirty="0"/>
          </a:p>
        </p:txBody>
      </p:sp>
      <p:sp>
        <p:nvSpPr>
          <p:cNvPr id="13" name="Text 11"/>
          <p:cNvSpPr/>
          <p:nvPr/>
        </p:nvSpPr>
        <p:spPr>
          <a:xfrm>
            <a:off x="411480" y="1920240"/>
            <a:ext cx="5486400" cy="292608"/>
          </a:xfrm>
          <a:prstGeom prst="rect">
            <a:avLst/>
          </a:prstGeom>
          <a:noFill/>
          <a:ln/>
        </p:spPr>
        <p:txBody>
          <a:bodyPr wrap="square" lIns="0" tIns="0" rIns="0" bIns="0" rtlCol="0" anchor="ctr"/>
          <a:lstStyle/>
          <a:p>
            <a:pPr indent="0" marL="0">
              <a:buNone/>
            </a:pPr>
            <a:r>
              <a:rPr lang="en-US" sz="1400" b="1" dirty="0">
                <a:solidFill>
                  <a:srgbClr val="143847"/>
                </a:solidFill>
                <a:latin typeface="Calibri" pitchFamily="34" charset="0"/>
                <a:ea typeface="Calibri" pitchFamily="34" charset="-122"/>
                <a:cs typeface="Calibri" pitchFamily="34" charset="-120"/>
              </a:rPr>
              <a:t>Design &amp; session</a:t>
            </a:r>
            <a:endParaRPr lang="en-US" sz="1400" dirty="0"/>
          </a:p>
        </p:txBody>
      </p:sp>
      <p:sp>
        <p:nvSpPr>
          <p:cNvPr id="14" name="Text 12"/>
          <p:cNvSpPr/>
          <p:nvPr/>
        </p:nvSpPr>
        <p:spPr>
          <a:xfrm>
            <a:off x="411480" y="2267712"/>
            <a:ext cx="5486400" cy="3794760"/>
          </a:xfrm>
          <a:prstGeom prst="rect">
            <a:avLst/>
          </a:prstGeom>
          <a:noFill/>
          <a:ln/>
        </p:spPr>
        <p:txBody>
          <a:bodyPr wrap="square" lIns="0" tIns="0" rIns="0" bIns="0" rtlCol="0" anchor="t"/>
          <a:lstStyle/>
          <a:p>
            <a:pPr indent="0" marL="0">
              <a:spcAft>
                <a:spcPts val="300"/>
              </a:spcAft>
              <a:buNone/>
            </a:pPr>
            <a:r>
              <a:rPr lang="en-US" sz="1200" b="1" dirty="0">
                <a:solidFill>
                  <a:srgbClr val="1A1A1A"/>
                </a:solidFill>
                <a:latin typeface="Calibri" pitchFamily="34" charset="0"/>
                <a:ea typeface="Calibri" pitchFamily="34" charset="-122"/>
                <a:cs typeface="Calibri" pitchFamily="34" charset="-120"/>
              </a:rPr>
              <a:t>Platform.  </a:t>
            </a:r>
            <a:pPr indent="0" marL="0">
              <a:spcAft>
                <a:spcPts val="300"/>
              </a:spcAft>
              <a:buNone/>
            </a:pPr>
            <a:r>
              <a:rPr lang="en-US" sz="1200" dirty="0">
                <a:solidFill>
                  <a:srgbClr val="1A1A1A"/>
                </a:solidFill>
                <a:latin typeface="Calibri" pitchFamily="34" charset="0"/>
                <a:ea typeface="Calibri" pitchFamily="34" charset="-122"/>
                <a:cs typeface="Calibri" pitchFamily="34" charset="-120"/>
              </a:rPr>
              <a:t>OpenMATB — four concurrent supervisory tasks: system monitoring, communications, scheduling, resource management.</a:t>
            </a:r>
            <a:endParaRPr lang="en-US" sz="1200" dirty="0"/>
          </a:p>
          <a:p>
            <a:pPr indent="0" marL="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indent="0" marL="0">
              <a:spcAft>
                <a:spcPts val="300"/>
              </a:spcAft>
              <a:buNone/>
            </a:pPr>
            <a:r>
              <a:rPr lang="en-US" sz="1200" b="1" dirty="0">
                <a:solidFill>
                  <a:srgbClr val="1A1A1A"/>
                </a:solidFill>
                <a:latin typeface="Calibri" pitchFamily="34" charset="0"/>
                <a:ea typeface="Calibri" pitchFamily="34" charset="-122"/>
                <a:cs typeface="Calibri" pitchFamily="34" charset="-120"/>
              </a:rPr>
              <a:t>Automation aid.  </a:t>
            </a:r>
            <a:pPr indent="0" marL="0">
              <a:spcAft>
                <a:spcPts val="300"/>
              </a:spcAft>
              <a:buNone/>
            </a:pPr>
            <a:r>
              <a:rPr lang="en-US" sz="1200" dirty="0">
                <a:solidFill>
                  <a:srgbClr val="1A1A1A"/>
                </a:solidFill>
                <a:latin typeface="Calibri" pitchFamily="34" charset="0"/>
                <a:ea typeface="Calibri" pitchFamily="34" charset="-122"/>
                <a:cs typeface="Calibri" pitchFamily="34" charset="-120"/>
              </a:rPr>
              <a:t>Runs only on system monitoring at ~78% reliability; the other three tasks compete for attention.</a:t>
            </a:r>
            <a:endParaRPr lang="en-US" sz="1200" dirty="0"/>
          </a:p>
          <a:p>
            <a:pPr indent="0" marL="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indent="0" marL="0">
              <a:spcAft>
                <a:spcPts val="300"/>
              </a:spcAft>
              <a:buNone/>
            </a:pPr>
            <a:r>
              <a:rPr lang="en-US" sz="1200" b="1" dirty="0">
                <a:solidFill>
                  <a:srgbClr val="1A1A1A"/>
                </a:solidFill>
                <a:latin typeface="Calibri" pitchFamily="34" charset="0"/>
                <a:ea typeface="Calibri" pitchFamily="34" charset="-122"/>
                <a:cs typeface="Calibri" pitchFamily="34" charset="-120"/>
              </a:rPr>
              <a:t>Within-subjects design.  </a:t>
            </a:r>
            <a:pPr indent="0" marL="0">
              <a:spcAft>
                <a:spcPts val="300"/>
              </a:spcAft>
              <a:buNone/>
            </a:pPr>
            <a:r>
              <a:rPr lang="en-US" sz="1200" dirty="0">
                <a:solidFill>
                  <a:srgbClr val="1A1A1A"/>
                </a:solidFill>
                <a:latin typeface="Calibri" pitchFamily="34" charset="0"/>
                <a:ea typeface="Calibri" pitchFamily="34" charset="-122"/>
                <a:cs typeface="Calibri" pitchFamily="34" charset="-120"/>
              </a:rPr>
              <a:t>Each participant runs all three forms (F1/F2/F3), once each on three different gauge sets — so the post-block memory probe cannot be answered by recall from another block.</a:t>
            </a:r>
            <a:endParaRPr lang="en-US" sz="1200" dirty="0"/>
          </a:p>
          <a:p>
            <a:pPr indent="0" marL="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indent="0" marL="0">
              <a:spcAft>
                <a:spcPts val="300"/>
              </a:spcAft>
              <a:buNone/>
            </a:pPr>
            <a:r>
              <a:rPr lang="en-US" sz="1200" b="1" dirty="0">
                <a:solidFill>
                  <a:srgbClr val="1A1A1A"/>
                </a:solidFill>
                <a:latin typeface="Calibri" pitchFamily="34" charset="0"/>
                <a:ea typeface="Calibri" pitchFamily="34" charset="-122"/>
                <a:cs typeface="Calibri" pitchFamily="34" charset="-120"/>
              </a:rPr>
              <a:t>Session.  </a:t>
            </a:r>
            <a:pPr indent="0" marL="0">
              <a:spcAft>
                <a:spcPts val="300"/>
              </a:spcAft>
              <a:buNone/>
            </a:pPr>
            <a:r>
              <a:rPr lang="en-US" sz="1200" dirty="0">
                <a:solidFill>
                  <a:srgbClr val="1A1A1A"/>
                </a:solidFill>
                <a:latin typeface="Calibri" pitchFamily="34" charset="0"/>
                <a:ea typeface="Calibri" pitchFamily="34" charset="-122"/>
                <a:cs typeface="Calibri" pitchFamily="34" charset="-120"/>
              </a:rPr>
              <a:t>≈20 min per participant: 3 min practice → three 5 min experimental blocks → final questionnaire battery.</a:t>
            </a:r>
            <a:endParaRPr lang="en-US" sz="1200" dirty="0"/>
          </a:p>
          <a:p>
            <a:pPr indent="0" marL="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indent="0" marL="0">
              <a:spcAft>
                <a:spcPts val="300"/>
              </a:spcAft>
              <a:buNone/>
            </a:pPr>
            <a:r>
              <a:rPr lang="en-US" sz="1200" b="1" dirty="0">
                <a:solidFill>
                  <a:srgbClr val="8C1D2C"/>
                </a:solidFill>
                <a:latin typeface="Calibri" pitchFamily="34" charset="0"/>
                <a:ea typeface="Calibri" pitchFamily="34" charset="-122"/>
                <a:cs typeface="Calibri" pitchFamily="34" charset="-120"/>
              </a:rPr>
              <a:t>Content matching.  </a:t>
            </a:r>
            <a:pPr indent="0" marL="0">
              <a:spcAft>
                <a:spcPts val="300"/>
              </a:spcAft>
              <a:buNone/>
            </a:pPr>
            <a:r>
              <a:rPr lang="en-US" sz="1200" i="1" dirty="0">
                <a:solidFill>
                  <a:srgbClr val="1A1A1A"/>
                </a:solidFill>
                <a:latin typeface="Calibri" pitchFamily="34" charset="0"/>
                <a:ea typeface="Calibri" pitchFamily="34" charset="-122"/>
                <a:cs typeface="Calibri" pitchFamily="34" charset="-120"/>
              </a:rPr>
              <a:t>F1's verbose stream contains every fact F2/F3 surface — the central design constraint. Any leak invalidates the comparison.</a:t>
            </a:r>
            <a:endParaRPr lang="en-US" sz="1200" dirty="0"/>
          </a:p>
        </p:txBody>
      </p:sp>
      <p:sp>
        <p:nvSpPr>
          <p:cNvPr id="15" name="Shape 13"/>
          <p:cNvSpPr/>
          <p:nvPr/>
        </p:nvSpPr>
        <p:spPr>
          <a:xfrm>
            <a:off x="6080760" y="1920240"/>
            <a:ext cx="0" cy="4160520"/>
          </a:xfrm>
          <a:prstGeom prst="line">
            <a:avLst/>
          </a:prstGeom>
          <a:noFill/>
          <a:ln w="9525">
            <a:solidFill>
              <a:srgbClr val="C9D2D9"/>
            </a:solidFill>
            <a:prstDash val="solid"/>
          </a:ln>
        </p:spPr>
      </p:sp>
      <p:sp>
        <p:nvSpPr>
          <p:cNvPr id="16" name="Text 14"/>
          <p:cNvSpPr/>
          <p:nvPr/>
        </p:nvSpPr>
        <p:spPr>
          <a:xfrm>
            <a:off x="6263640" y="1920240"/>
            <a:ext cx="5486400" cy="292608"/>
          </a:xfrm>
          <a:prstGeom prst="rect">
            <a:avLst/>
          </a:prstGeom>
          <a:noFill/>
          <a:ln/>
        </p:spPr>
        <p:txBody>
          <a:bodyPr wrap="square" lIns="0" tIns="0" rIns="0" bIns="0" rtlCol="0" anchor="ctr"/>
          <a:lstStyle/>
          <a:p>
            <a:pPr indent="0" marL="0">
              <a:buNone/>
            </a:pPr>
            <a:r>
              <a:rPr lang="en-US" sz="1400" b="1" dirty="0">
                <a:solidFill>
                  <a:srgbClr val="143847"/>
                </a:solidFill>
                <a:latin typeface="Calibri" pitchFamily="34" charset="0"/>
                <a:ea typeface="Calibri" pitchFamily="34" charset="-122"/>
                <a:cs typeface="Calibri" pitchFamily="34" charset="-120"/>
              </a:rPr>
              <a:t>What we measure</a:t>
            </a:r>
            <a:endParaRPr lang="en-US" sz="1400" dirty="0"/>
          </a:p>
        </p:txBody>
      </p:sp>
      <p:sp>
        <p:nvSpPr>
          <p:cNvPr id="17" name="Text 15"/>
          <p:cNvSpPr/>
          <p:nvPr/>
        </p:nvSpPr>
        <p:spPr>
          <a:xfrm>
            <a:off x="6263640" y="2267712"/>
            <a:ext cx="5486400" cy="914400"/>
          </a:xfrm>
          <a:prstGeom prst="rect">
            <a:avLst/>
          </a:prstGeom>
          <a:noFill/>
          <a:ln/>
        </p:spPr>
        <p:txBody>
          <a:bodyPr wrap="square" lIns="0" tIns="0" rIns="0" bIns="0" rtlCol="0" anchor="t"/>
          <a:lstStyle/>
          <a:p>
            <a:pPr indent="0" marL="0">
              <a:buNone/>
            </a:pPr>
            <a:r>
              <a:rPr lang="en-US" sz="1200" i="1" dirty="0">
                <a:solidFill>
                  <a:srgbClr val="1A1A1A"/>
                </a:solidFill>
                <a:latin typeface="Calibri" pitchFamily="34" charset="0"/>
                <a:ea typeface="Calibri" pitchFamily="34" charset="-122"/>
                <a:cs typeface="Calibri" pitchFamily="34" charset="-120"/>
              </a:rPr>
              <a:t>Two kinds of measures: things the participant tells us (questionnaires) and things the platform records (key presses, response times, hits and misses). Each maps onto one or more hypotheses — detailed on the next slide.</a:t>
            </a:r>
            <a:endParaRPr lang="en-US" sz="1200" dirty="0"/>
          </a:p>
        </p:txBody>
      </p:sp>
      <p:sp>
        <p:nvSpPr>
          <p:cNvPr id="18" name="Shape 16"/>
          <p:cNvSpPr/>
          <p:nvPr/>
        </p:nvSpPr>
        <p:spPr>
          <a:xfrm>
            <a:off x="6263640" y="3337560"/>
            <a:ext cx="1014984" cy="502920"/>
          </a:xfrm>
          <a:prstGeom prst="rect">
            <a:avLst/>
          </a:prstGeom>
          <a:solidFill>
            <a:srgbClr val="F4F6F8"/>
          </a:solidFill>
          <a:ln w="6350">
            <a:solidFill>
              <a:srgbClr val="C9D2D9"/>
            </a:solidFill>
            <a:prstDash val="solid"/>
          </a:ln>
        </p:spPr>
      </p:sp>
      <p:sp>
        <p:nvSpPr>
          <p:cNvPr id="19" name="Text 17"/>
          <p:cNvSpPr/>
          <p:nvPr/>
        </p:nvSpPr>
        <p:spPr>
          <a:xfrm>
            <a:off x="6263640" y="3383280"/>
            <a:ext cx="1014984" cy="411480"/>
          </a:xfrm>
          <a:prstGeom prst="rect">
            <a:avLst/>
          </a:prstGeom>
          <a:noFill/>
          <a:ln/>
        </p:spPr>
        <p:txBody>
          <a:bodyPr wrap="square" lIns="0" tIns="0" rIns="0" bIns="0" rtlCol="0" anchor="ctr"/>
          <a:lstStyle/>
          <a:p>
            <a:pPr algn="ctr" indent="0" marL="0">
              <a:buNone/>
            </a:pPr>
            <a:r>
              <a:rPr lang="en-US" sz="1100" b="1" dirty="0">
                <a:solidFill>
                  <a:srgbClr val="143847"/>
                </a:solidFill>
                <a:latin typeface="Calibri" pitchFamily="34" charset="0"/>
                <a:ea typeface="Calibri" pitchFamily="34" charset="-122"/>
                <a:cs typeface="Calibri" pitchFamily="34" charset="-120"/>
              </a:rPr>
              <a:t>Practice</a:t>
            </a:r>
            <a:endParaRPr lang="en-US" sz="1100" dirty="0"/>
          </a:p>
        </p:txBody>
      </p:sp>
      <p:sp>
        <p:nvSpPr>
          <p:cNvPr id="20" name="Shape 18"/>
          <p:cNvSpPr/>
          <p:nvPr/>
        </p:nvSpPr>
        <p:spPr>
          <a:xfrm>
            <a:off x="7370064" y="3337560"/>
            <a:ext cx="1014984" cy="502920"/>
          </a:xfrm>
          <a:prstGeom prst="rect">
            <a:avLst/>
          </a:prstGeom>
          <a:solidFill>
            <a:srgbClr val="143847"/>
          </a:solidFill>
          <a:ln w="6350">
            <a:solidFill>
              <a:srgbClr val="C9D2D9"/>
            </a:solidFill>
            <a:prstDash val="solid"/>
          </a:ln>
        </p:spPr>
      </p:sp>
      <p:sp>
        <p:nvSpPr>
          <p:cNvPr id="21" name="Text 19"/>
          <p:cNvSpPr/>
          <p:nvPr/>
        </p:nvSpPr>
        <p:spPr>
          <a:xfrm>
            <a:off x="7370064" y="3383280"/>
            <a:ext cx="101498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Block 1</a:t>
            </a:r>
            <a:endParaRPr lang="en-US" sz="1100" dirty="0"/>
          </a:p>
        </p:txBody>
      </p:sp>
      <p:sp>
        <p:nvSpPr>
          <p:cNvPr id="22" name="Shape 20"/>
          <p:cNvSpPr/>
          <p:nvPr/>
        </p:nvSpPr>
        <p:spPr>
          <a:xfrm>
            <a:off x="8430768" y="3337560"/>
            <a:ext cx="1014984" cy="502920"/>
          </a:xfrm>
          <a:prstGeom prst="rect">
            <a:avLst/>
          </a:prstGeom>
          <a:solidFill>
            <a:srgbClr val="143847"/>
          </a:solidFill>
          <a:ln w="6350">
            <a:solidFill>
              <a:srgbClr val="C9D2D9"/>
            </a:solidFill>
            <a:prstDash val="solid"/>
          </a:ln>
        </p:spPr>
      </p:sp>
      <p:sp>
        <p:nvSpPr>
          <p:cNvPr id="23" name="Text 21"/>
          <p:cNvSpPr/>
          <p:nvPr/>
        </p:nvSpPr>
        <p:spPr>
          <a:xfrm>
            <a:off x="8430768" y="3383280"/>
            <a:ext cx="101498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Block 2</a:t>
            </a:r>
            <a:endParaRPr lang="en-US" sz="1100" dirty="0"/>
          </a:p>
        </p:txBody>
      </p:sp>
      <p:sp>
        <p:nvSpPr>
          <p:cNvPr id="24" name="Shape 22"/>
          <p:cNvSpPr/>
          <p:nvPr/>
        </p:nvSpPr>
        <p:spPr>
          <a:xfrm>
            <a:off x="9491472" y="3337560"/>
            <a:ext cx="1014984" cy="502920"/>
          </a:xfrm>
          <a:prstGeom prst="rect">
            <a:avLst/>
          </a:prstGeom>
          <a:solidFill>
            <a:srgbClr val="143847"/>
          </a:solidFill>
          <a:ln w="6350">
            <a:solidFill>
              <a:srgbClr val="C9D2D9"/>
            </a:solidFill>
            <a:prstDash val="solid"/>
          </a:ln>
        </p:spPr>
      </p:sp>
      <p:sp>
        <p:nvSpPr>
          <p:cNvPr id="25" name="Text 23"/>
          <p:cNvSpPr/>
          <p:nvPr/>
        </p:nvSpPr>
        <p:spPr>
          <a:xfrm>
            <a:off x="9491472" y="3383280"/>
            <a:ext cx="101498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Block 3</a:t>
            </a:r>
            <a:endParaRPr lang="en-US" sz="1100" dirty="0"/>
          </a:p>
        </p:txBody>
      </p:sp>
      <p:sp>
        <p:nvSpPr>
          <p:cNvPr id="26" name="Shape 24"/>
          <p:cNvSpPr/>
          <p:nvPr/>
        </p:nvSpPr>
        <p:spPr>
          <a:xfrm>
            <a:off x="10552176" y="3337560"/>
            <a:ext cx="1014984" cy="502920"/>
          </a:xfrm>
          <a:prstGeom prst="rect">
            <a:avLst/>
          </a:prstGeom>
          <a:solidFill>
            <a:srgbClr val="F4F6F8"/>
          </a:solidFill>
          <a:ln w="6350">
            <a:solidFill>
              <a:srgbClr val="C9D2D9"/>
            </a:solidFill>
            <a:prstDash val="solid"/>
          </a:ln>
        </p:spPr>
      </p:sp>
      <p:sp>
        <p:nvSpPr>
          <p:cNvPr id="27" name="Text 25"/>
          <p:cNvSpPr/>
          <p:nvPr/>
        </p:nvSpPr>
        <p:spPr>
          <a:xfrm>
            <a:off x="10552176" y="3383280"/>
            <a:ext cx="1014984" cy="411480"/>
          </a:xfrm>
          <a:prstGeom prst="rect">
            <a:avLst/>
          </a:prstGeom>
          <a:noFill/>
          <a:ln/>
        </p:spPr>
        <p:txBody>
          <a:bodyPr wrap="square" lIns="0" tIns="0" rIns="0" bIns="0" rtlCol="0" anchor="ctr"/>
          <a:lstStyle/>
          <a:p>
            <a:pPr algn="ctr" indent="0" marL="0">
              <a:buNone/>
            </a:pPr>
            <a:r>
              <a:rPr lang="en-US" sz="1100" b="1" dirty="0">
                <a:solidFill>
                  <a:srgbClr val="143847"/>
                </a:solidFill>
                <a:latin typeface="Calibri" pitchFamily="34" charset="0"/>
                <a:ea typeface="Calibri" pitchFamily="34" charset="-122"/>
                <a:cs typeface="Calibri" pitchFamily="34" charset="-120"/>
              </a:rPr>
              <a:t>Debrief</a:t>
            </a:r>
            <a:endParaRPr lang="en-US" sz="1100" dirty="0"/>
          </a:p>
        </p:txBody>
      </p:sp>
      <p:sp>
        <p:nvSpPr>
          <p:cNvPr id="28" name="Text 26"/>
          <p:cNvSpPr/>
          <p:nvPr/>
        </p:nvSpPr>
        <p:spPr>
          <a:xfrm>
            <a:off x="6263640" y="3931920"/>
            <a:ext cx="5486400" cy="228600"/>
          </a:xfrm>
          <a:prstGeom prst="rect">
            <a:avLst/>
          </a:prstGeom>
          <a:noFill/>
          <a:ln/>
        </p:spPr>
        <p:txBody>
          <a:bodyPr wrap="square" lIns="0" tIns="0" rIns="0" bIns="0" rtlCol="0" anchor="ctr"/>
          <a:lstStyle/>
          <a:p>
            <a:pPr algn="ctr" indent="0" marL="0">
              <a:buNone/>
            </a:pPr>
            <a:r>
              <a:rPr lang="en-US" sz="900" i="1" dirty="0">
                <a:solidFill>
                  <a:srgbClr val="5A6770"/>
                </a:solidFill>
                <a:latin typeface="Calibri" pitchFamily="34" charset="0"/>
                <a:ea typeface="Calibri" pitchFamily="34" charset="-122"/>
                <a:cs typeface="Calibri" pitchFamily="34" charset="-120"/>
              </a:rPr>
              <a:t>3 min        →        5 min        →        5 min        →        5 min        →        questionnaires</a:t>
            </a:r>
            <a:endParaRPr lang="en-US" sz="900" dirty="0"/>
          </a:p>
        </p:txBody>
      </p:sp>
      <p:sp>
        <p:nvSpPr>
          <p:cNvPr id="29" name="Text 27"/>
          <p:cNvSpPr/>
          <p:nvPr/>
        </p:nvSpPr>
        <p:spPr>
          <a:xfrm>
            <a:off x="6263640" y="4343400"/>
            <a:ext cx="1737360" cy="502920"/>
          </a:xfrm>
          <a:prstGeom prst="rect">
            <a:avLst/>
          </a:prstGeom>
          <a:noFill/>
          <a:ln/>
        </p:spPr>
        <p:txBody>
          <a:bodyPr wrap="square" lIns="0" tIns="0" rIns="0" bIns="0" rtlCol="0" anchor="ctr"/>
          <a:lstStyle/>
          <a:p>
            <a:pPr algn="ctr" indent="0" marL="0">
              <a:buNone/>
            </a:pPr>
            <a:r>
              <a:rPr lang="en-US" sz="2800" b="1" dirty="0">
                <a:solidFill>
                  <a:srgbClr val="143847"/>
                </a:solidFill>
                <a:latin typeface="Calibri" pitchFamily="34" charset="0"/>
                <a:ea typeface="Calibri" pitchFamily="34" charset="-122"/>
                <a:cs typeface="Calibri" pitchFamily="34" charset="-120"/>
              </a:rPr>
              <a:t>4</a:t>
            </a:r>
            <a:endParaRPr lang="en-US" sz="2800" dirty="0"/>
          </a:p>
        </p:txBody>
      </p:sp>
      <p:sp>
        <p:nvSpPr>
          <p:cNvPr id="30" name="Text 28"/>
          <p:cNvSpPr/>
          <p:nvPr/>
        </p:nvSpPr>
        <p:spPr>
          <a:xfrm>
            <a:off x="6263640" y="4846320"/>
            <a:ext cx="1737360" cy="274320"/>
          </a:xfrm>
          <a:prstGeom prst="rect">
            <a:avLst/>
          </a:prstGeom>
          <a:noFill/>
          <a:ln/>
        </p:spPr>
        <p:txBody>
          <a:bodyPr wrap="square" lIns="0" tIns="0" rIns="0" bIns="0" rtlCol="0" anchor="ctr"/>
          <a:lstStyle/>
          <a:p>
            <a:pPr algn="ctr" indent="0" marL="0">
              <a:buNone/>
            </a:pPr>
            <a:r>
              <a:rPr lang="en-US" sz="1000" i="1" dirty="0">
                <a:solidFill>
                  <a:srgbClr val="5A6770"/>
                </a:solidFill>
                <a:latin typeface="Calibri" pitchFamily="34" charset="0"/>
                <a:ea typeface="Calibri" pitchFamily="34" charset="-122"/>
                <a:cs typeface="Calibri" pitchFamily="34" charset="-120"/>
              </a:rPr>
              <a:t>concurrent tasks</a:t>
            </a:r>
            <a:endParaRPr lang="en-US" sz="1000" dirty="0"/>
          </a:p>
        </p:txBody>
      </p:sp>
      <p:sp>
        <p:nvSpPr>
          <p:cNvPr id="31" name="Text 29"/>
          <p:cNvSpPr/>
          <p:nvPr/>
        </p:nvSpPr>
        <p:spPr>
          <a:xfrm>
            <a:off x="8138160" y="4343400"/>
            <a:ext cx="1737360" cy="502920"/>
          </a:xfrm>
          <a:prstGeom prst="rect">
            <a:avLst/>
          </a:prstGeom>
          <a:noFill/>
          <a:ln/>
        </p:spPr>
        <p:txBody>
          <a:bodyPr wrap="square" lIns="0" tIns="0" rIns="0" bIns="0" rtlCol="0" anchor="ctr"/>
          <a:lstStyle/>
          <a:p>
            <a:pPr algn="ctr" indent="0" marL="0">
              <a:buNone/>
            </a:pPr>
            <a:r>
              <a:rPr lang="en-US" sz="2800" b="1" dirty="0">
                <a:solidFill>
                  <a:srgbClr val="143847"/>
                </a:solidFill>
                <a:latin typeface="Calibri" pitchFamily="34" charset="0"/>
                <a:ea typeface="Calibri" pitchFamily="34" charset="-122"/>
                <a:cs typeface="Calibri" pitchFamily="34" charset="-120"/>
              </a:rPr>
              <a:t>78%</a:t>
            </a:r>
            <a:endParaRPr lang="en-US" sz="2800" dirty="0"/>
          </a:p>
        </p:txBody>
      </p:sp>
      <p:sp>
        <p:nvSpPr>
          <p:cNvPr id="32" name="Text 30"/>
          <p:cNvSpPr/>
          <p:nvPr/>
        </p:nvSpPr>
        <p:spPr>
          <a:xfrm>
            <a:off x="8138160" y="4846320"/>
            <a:ext cx="1737360" cy="274320"/>
          </a:xfrm>
          <a:prstGeom prst="rect">
            <a:avLst/>
          </a:prstGeom>
          <a:noFill/>
          <a:ln/>
        </p:spPr>
        <p:txBody>
          <a:bodyPr wrap="square" lIns="0" tIns="0" rIns="0" bIns="0" rtlCol="0" anchor="ctr"/>
          <a:lstStyle/>
          <a:p>
            <a:pPr algn="ctr" indent="0" marL="0">
              <a:buNone/>
            </a:pPr>
            <a:r>
              <a:rPr lang="en-US" sz="1000" i="1" dirty="0">
                <a:solidFill>
                  <a:srgbClr val="5A6770"/>
                </a:solidFill>
                <a:latin typeface="Calibri" pitchFamily="34" charset="0"/>
                <a:ea typeface="Calibri" pitchFamily="34" charset="-122"/>
                <a:cs typeface="Calibri" pitchFamily="34" charset="-120"/>
              </a:rPr>
              <a:t>aid reliability</a:t>
            </a:r>
            <a:endParaRPr lang="en-US" sz="1000" dirty="0"/>
          </a:p>
        </p:txBody>
      </p:sp>
      <p:sp>
        <p:nvSpPr>
          <p:cNvPr id="33" name="Text 31"/>
          <p:cNvSpPr/>
          <p:nvPr/>
        </p:nvSpPr>
        <p:spPr>
          <a:xfrm>
            <a:off x="10012680" y="4343400"/>
            <a:ext cx="1737360" cy="502920"/>
          </a:xfrm>
          <a:prstGeom prst="rect">
            <a:avLst/>
          </a:prstGeom>
          <a:noFill/>
          <a:ln/>
        </p:spPr>
        <p:txBody>
          <a:bodyPr wrap="square" lIns="0" tIns="0" rIns="0" bIns="0" rtlCol="0" anchor="ctr"/>
          <a:lstStyle/>
          <a:p>
            <a:pPr algn="ctr" indent="0" marL="0">
              <a:buNone/>
            </a:pPr>
            <a:r>
              <a:rPr lang="en-US" sz="2800" b="1" dirty="0">
                <a:solidFill>
                  <a:srgbClr val="143847"/>
                </a:solidFill>
                <a:latin typeface="Calibri" pitchFamily="34" charset="0"/>
                <a:ea typeface="Calibri" pitchFamily="34" charset="-122"/>
                <a:cs typeface="Calibri" pitchFamily="34" charset="-120"/>
              </a:rPr>
              <a:t>3 × 5</a:t>
            </a:r>
            <a:endParaRPr lang="en-US" sz="2800" dirty="0"/>
          </a:p>
        </p:txBody>
      </p:sp>
      <p:sp>
        <p:nvSpPr>
          <p:cNvPr id="34" name="Text 32"/>
          <p:cNvSpPr/>
          <p:nvPr/>
        </p:nvSpPr>
        <p:spPr>
          <a:xfrm>
            <a:off x="10012680" y="4846320"/>
            <a:ext cx="1737360" cy="274320"/>
          </a:xfrm>
          <a:prstGeom prst="rect">
            <a:avLst/>
          </a:prstGeom>
          <a:noFill/>
          <a:ln/>
        </p:spPr>
        <p:txBody>
          <a:bodyPr wrap="square" lIns="0" tIns="0" rIns="0" bIns="0" rtlCol="0" anchor="ctr"/>
          <a:lstStyle/>
          <a:p>
            <a:pPr algn="ctr" indent="0" marL="0">
              <a:buNone/>
            </a:pPr>
            <a:r>
              <a:rPr lang="en-US" sz="1000" i="1" dirty="0">
                <a:solidFill>
                  <a:srgbClr val="5A6770"/>
                </a:solidFill>
                <a:latin typeface="Calibri" pitchFamily="34" charset="0"/>
                <a:ea typeface="Calibri" pitchFamily="34" charset="-122"/>
                <a:cs typeface="Calibri" pitchFamily="34" charset="-120"/>
              </a:rPr>
              <a:t>min blocks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indent="0" marL="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algn="r" indent="0" marL="0">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algn="r" indent="0" marL="0">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algn="r" indent="0" marL="0">
              <a:buNone/>
            </a:pPr>
            <a:r>
              <a:rPr lang="en-US" sz="900" dirty="0">
                <a:solidFill>
                  <a:srgbClr val="5A6770"/>
                </a:solidFill>
                <a:latin typeface="Calibri" pitchFamily="34" charset="0"/>
                <a:ea typeface="Calibri" pitchFamily="34" charset="-122"/>
                <a:cs typeface="Calibri" pitchFamily="34" charset="-120"/>
              </a:rPr>
              <a:t>6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indent="0" marL="0">
              <a:buNone/>
            </a:pPr>
            <a:r>
              <a:rPr lang="en-US" sz="2600" b="1" dirty="0">
                <a:solidFill>
                  <a:srgbClr val="143847"/>
                </a:solidFill>
                <a:latin typeface="Calibri" pitchFamily="34" charset="0"/>
                <a:ea typeface="Calibri" pitchFamily="34" charset="-122"/>
                <a:cs typeface="Calibri" pitchFamily="34" charset="-120"/>
              </a:rPr>
              <a:t>Measures &amp; considerations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indent="0" marL="0">
              <a:buNone/>
            </a:pPr>
            <a:r>
              <a:rPr lang="en-US" sz="1300" i="1" dirty="0">
                <a:solidFill>
                  <a:srgbClr val="5A6770"/>
                </a:solidFill>
                <a:latin typeface="Calibri" pitchFamily="34" charset="0"/>
                <a:ea typeface="Calibri" pitchFamily="34" charset="-122"/>
                <a:cs typeface="Calibri" pitchFamily="34" charset="-120"/>
              </a:rPr>
              <a:t>Each measure maps onto a specific hypothesis; design constraints define the limits of inference.</a:t>
            </a:r>
            <a:endParaRPr lang="en-US" sz="1300" dirty="0"/>
          </a:p>
        </p:txBody>
      </p:sp>
      <p:sp>
        <p:nvSpPr>
          <p:cNvPr id="13" name="Shape 11"/>
          <p:cNvSpPr/>
          <p:nvPr/>
        </p:nvSpPr>
        <p:spPr>
          <a:xfrm>
            <a:off x="411480" y="1874520"/>
            <a:ext cx="5592928" cy="1417320"/>
          </a:xfrm>
          <a:prstGeom prst="rect">
            <a:avLst/>
          </a:prstGeom>
          <a:solidFill>
            <a:srgbClr val="FFFFFF"/>
          </a:solidFill>
          <a:ln w="9525">
            <a:solidFill>
              <a:srgbClr val="C9D2D9"/>
            </a:solidFill>
            <a:prstDash val="solid"/>
          </a:ln>
        </p:spPr>
      </p:sp>
      <p:sp>
        <p:nvSpPr>
          <p:cNvPr id="14" name="Shape 12"/>
          <p:cNvSpPr/>
          <p:nvPr/>
        </p:nvSpPr>
        <p:spPr>
          <a:xfrm>
            <a:off x="411480" y="1874520"/>
            <a:ext cx="73152" cy="1417320"/>
          </a:xfrm>
          <a:prstGeom prst="rect">
            <a:avLst/>
          </a:prstGeom>
          <a:solidFill>
            <a:srgbClr val="143847"/>
          </a:solidFill>
          <a:ln w="12700">
            <a:solidFill>
              <a:srgbClr val="143847"/>
            </a:solidFill>
            <a:prstDash val="solid"/>
          </a:ln>
        </p:spPr>
      </p:sp>
      <p:sp>
        <p:nvSpPr>
          <p:cNvPr id="15" name="Text 13"/>
          <p:cNvSpPr/>
          <p:nvPr/>
        </p:nvSpPr>
        <p:spPr>
          <a:xfrm>
            <a:off x="576072" y="1947672"/>
            <a:ext cx="4312768" cy="274320"/>
          </a:xfrm>
          <a:prstGeom prst="rect">
            <a:avLst/>
          </a:prstGeom>
          <a:noFill/>
          <a:ln/>
        </p:spPr>
        <p:txBody>
          <a:bodyPr wrap="square" lIns="0" tIns="0" rIns="0" bIns="0" rtlCol="0" anchor="ctr"/>
          <a:lstStyle/>
          <a:p>
            <a:pPr indent="0" marL="0">
              <a:buNone/>
            </a:pPr>
            <a:r>
              <a:rPr lang="en-US" sz="1200" b="1" dirty="0">
                <a:solidFill>
                  <a:srgbClr val="143847"/>
                </a:solidFill>
                <a:latin typeface="Calibri" pitchFamily="34" charset="0"/>
                <a:ea typeface="Calibri" pitchFamily="34" charset="-122"/>
                <a:cs typeface="Calibri" pitchFamily="34" charset="-120"/>
              </a:rPr>
              <a:t>Mental-model probe</a:t>
            </a:r>
            <a:endParaRPr lang="en-US" sz="1200" dirty="0"/>
          </a:p>
        </p:txBody>
      </p:sp>
      <p:sp>
        <p:nvSpPr>
          <p:cNvPr id="16" name="Shape 14"/>
          <p:cNvSpPr/>
          <p:nvPr/>
        </p:nvSpPr>
        <p:spPr>
          <a:xfrm>
            <a:off x="4952848" y="1965960"/>
            <a:ext cx="868680" cy="237744"/>
          </a:xfrm>
          <a:prstGeom prst="rect">
            <a:avLst/>
          </a:prstGeom>
          <a:solidFill>
            <a:srgbClr val="143847"/>
          </a:solidFill>
          <a:ln w="12700">
            <a:solidFill>
              <a:srgbClr val="143847"/>
            </a:solidFill>
            <a:prstDash val="solid"/>
          </a:ln>
        </p:spPr>
      </p:sp>
      <p:sp>
        <p:nvSpPr>
          <p:cNvPr id="17" name="Text 15"/>
          <p:cNvSpPr/>
          <p:nvPr/>
        </p:nvSpPr>
        <p:spPr>
          <a:xfrm>
            <a:off x="4952848" y="1975104"/>
            <a:ext cx="86868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H1, H2</a:t>
            </a:r>
            <a:endParaRPr lang="en-US" sz="1000" dirty="0"/>
          </a:p>
        </p:txBody>
      </p:sp>
      <p:sp>
        <p:nvSpPr>
          <p:cNvPr id="18" name="Text 16"/>
          <p:cNvSpPr/>
          <p:nvPr/>
        </p:nvSpPr>
        <p:spPr>
          <a:xfrm>
            <a:off x="576072" y="2203704"/>
            <a:ext cx="5318608" cy="201168"/>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19" name="Text 17"/>
          <p:cNvSpPr/>
          <p:nvPr/>
        </p:nvSpPr>
        <p:spPr>
          <a:xfrm>
            <a:off x="576072" y="2404872"/>
            <a:ext cx="5318608"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Five short slider questions on what the participant believes the aid actually did (e.g., "how many gauges did it act on?", "how often did it skip a gauge that needed attention?"). Compared against the scenario ground truth — an objective explicability score.</a:t>
            </a:r>
            <a:endParaRPr lang="en-US" sz="1050" dirty="0"/>
          </a:p>
        </p:txBody>
      </p:sp>
      <p:sp>
        <p:nvSpPr>
          <p:cNvPr id="20" name="Shape 18"/>
          <p:cNvSpPr/>
          <p:nvPr/>
        </p:nvSpPr>
        <p:spPr>
          <a:xfrm>
            <a:off x="6187288" y="1874520"/>
            <a:ext cx="5592928" cy="1417320"/>
          </a:xfrm>
          <a:prstGeom prst="rect">
            <a:avLst/>
          </a:prstGeom>
          <a:solidFill>
            <a:srgbClr val="FFFFFF"/>
          </a:solidFill>
          <a:ln w="9525">
            <a:solidFill>
              <a:srgbClr val="C9D2D9"/>
            </a:solidFill>
            <a:prstDash val="solid"/>
          </a:ln>
        </p:spPr>
      </p:sp>
      <p:sp>
        <p:nvSpPr>
          <p:cNvPr id="21" name="Shape 19"/>
          <p:cNvSpPr/>
          <p:nvPr/>
        </p:nvSpPr>
        <p:spPr>
          <a:xfrm>
            <a:off x="6187288" y="1874520"/>
            <a:ext cx="73152" cy="1417320"/>
          </a:xfrm>
          <a:prstGeom prst="rect">
            <a:avLst/>
          </a:prstGeom>
          <a:solidFill>
            <a:srgbClr val="143847"/>
          </a:solidFill>
          <a:ln w="12700">
            <a:solidFill>
              <a:srgbClr val="143847"/>
            </a:solidFill>
            <a:prstDash val="solid"/>
          </a:ln>
        </p:spPr>
      </p:sp>
      <p:sp>
        <p:nvSpPr>
          <p:cNvPr id="22" name="Text 20"/>
          <p:cNvSpPr/>
          <p:nvPr/>
        </p:nvSpPr>
        <p:spPr>
          <a:xfrm>
            <a:off x="6351880" y="1947672"/>
            <a:ext cx="4312768" cy="274320"/>
          </a:xfrm>
          <a:prstGeom prst="rect">
            <a:avLst/>
          </a:prstGeom>
          <a:noFill/>
          <a:ln/>
        </p:spPr>
        <p:txBody>
          <a:bodyPr wrap="square" lIns="0" tIns="0" rIns="0" bIns="0" rtlCol="0" anchor="ctr"/>
          <a:lstStyle/>
          <a:p>
            <a:pPr indent="0" marL="0">
              <a:buNone/>
            </a:pPr>
            <a:r>
              <a:rPr lang="en-US" sz="1200" b="1" dirty="0">
                <a:solidFill>
                  <a:srgbClr val="143847"/>
                </a:solidFill>
                <a:latin typeface="Calibri" pitchFamily="34" charset="0"/>
                <a:ea typeface="Calibri" pitchFamily="34" charset="-122"/>
                <a:cs typeface="Calibri" pitchFamily="34" charset="-120"/>
              </a:rPr>
              <a:t>Subjective transparency</a:t>
            </a:r>
            <a:endParaRPr lang="en-US" sz="1200" dirty="0"/>
          </a:p>
        </p:txBody>
      </p:sp>
      <p:sp>
        <p:nvSpPr>
          <p:cNvPr id="23" name="Shape 21"/>
          <p:cNvSpPr/>
          <p:nvPr/>
        </p:nvSpPr>
        <p:spPr>
          <a:xfrm>
            <a:off x="10728655" y="1965960"/>
            <a:ext cx="868680" cy="237744"/>
          </a:xfrm>
          <a:prstGeom prst="rect">
            <a:avLst/>
          </a:prstGeom>
          <a:solidFill>
            <a:srgbClr val="143847"/>
          </a:solidFill>
          <a:ln w="12700">
            <a:solidFill>
              <a:srgbClr val="143847"/>
            </a:solidFill>
            <a:prstDash val="solid"/>
          </a:ln>
        </p:spPr>
      </p:sp>
      <p:sp>
        <p:nvSpPr>
          <p:cNvPr id="24" name="Text 22"/>
          <p:cNvSpPr/>
          <p:nvPr/>
        </p:nvSpPr>
        <p:spPr>
          <a:xfrm>
            <a:off x="10728655" y="1975104"/>
            <a:ext cx="86868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sp>
        <p:nvSpPr>
          <p:cNvPr id="25" name="Text 23"/>
          <p:cNvSpPr/>
          <p:nvPr/>
        </p:nvSpPr>
        <p:spPr>
          <a:xfrm>
            <a:off x="6351880" y="2203704"/>
            <a:ext cx="5318608" cy="201168"/>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26" name="Text 24"/>
          <p:cNvSpPr/>
          <p:nvPr/>
        </p:nvSpPr>
        <p:spPr>
          <a:xfrm>
            <a:off x="6351880" y="2404872"/>
            <a:ext cx="5318608"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Three ratings: "the system told me what it was doing", "I understood why the system acted or did not act", "the amount of information felt about right". Captures the feeling of being informed — paired with the probe to test the H1 dissociation.</a:t>
            </a:r>
            <a:endParaRPr lang="en-US" sz="1050" dirty="0"/>
          </a:p>
        </p:txBody>
      </p:sp>
      <p:sp>
        <p:nvSpPr>
          <p:cNvPr id="27" name="Shape 25"/>
          <p:cNvSpPr/>
          <p:nvPr/>
        </p:nvSpPr>
        <p:spPr>
          <a:xfrm>
            <a:off x="411480" y="3383280"/>
            <a:ext cx="5592928" cy="1417320"/>
          </a:xfrm>
          <a:prstGeom prst="rect">
            <a:avLst/>
          </a:prstGeom>
          <a:solidFill>
            <a:srgbClr val="FFFFFF"/>
          </a:solidFill>
          <a:ln w="9525">
            <a:solidFill>
              <a:srgbClr val="C9D2D9"/>
            </a:solidFill>
            <a:prstDash val="solid"/>
          </a:ln>
        </p:spPr>
      </p:sp>
      <p:sp>
        <p:nvSpPr>
          <p:cNvPr id="28" name="Shape 26"/>
          <p:cNvSpPr/>
          <p:nvPr/>
        </p:nvSpPr>
        <p:spPr>
          <a:xfrm>
            <a:off x="411480" y="3383280"/>
            <a:ext cx="73152" cy="1417320"/>
          </a:xfrm>
          <a:prstGeom prst="rect">
            <a:avLst/>
          </a:prstGeom>
          <a:solidFill>
            <a:srgbClr val="143847"/>
          </a:solidFill>
          <a:ln w="12700">
            <a:solidFill>
              <a:srgbClr val="143847"/>
            </a:solidFill>
            <a:prstDash val="solid"/>
          </a:ln>
        </p:spPr>
      </p:sp>
      <p:sp>
        <p:nvSpPr>
          <p:cNvPr id="29" name="Text 27"/>
          <p:cNvSpPr/>
          <p:nvPr/>
        </p:nvSpPr>
        <p:spPr>
          <a:xfrm>
            <a:off x="576072" y="3456432"/>
            <a:ext cx="4312768" cy="274320"/>
          </a:xfrm>
          <a:prstGeom prst="rect">
            <a:avLst/>
          </a:prstGeom>
          <a:noFill/>
          <a:ln/>
        </p:spPr>
        <p:txBody>
          <a:bodyPr wrap="square" lIns="0" tIns="0" rIns="0" bIns="0" rtlCol="0" anchor="ctr"/>
          <a:lstStyle/>
          <a:p>
            <a:pPr indent="0" marL="0">
              <a:buNone/>
            </a:pPr>
            <a:r>
              <a:rPr lang="en-US" sz="1200" b="1" dirty="0">
                <a:solidFill>
                  <a:srgbClr val="143847"/>
                </a:solidFill>
                <a:latin typeface="Calibri" pitchFamily="34" charset="0"/>
                <a:ea typeface="Calibri" pitchFamily="34" charset="-122"/>
                <a:cs typeface="Calibri" pitchFamily="34" charset="-120"/>
              </a:rPr>
              <a:t>Detection of automation misses</a:t>
            </a:r>
            <a:endParaRPr lang="en-US" sz="1200" dirty="0"/>
          </a:p>
        </p:txBody>
      </p:sp>
      <p:sp>
        <p:nvSpPr>
          <p:cNvPr id="30" name="Shape 28"/>
          <p:cNvSpPr/>
          <p:nvPr/>
        </p:nvSpPr>
        <p:spPr>
          <a:xfrm>
            <a:off x="4952848" y="3474720"/>
            <a:ext cx="868680" cy="237744"/>
          </a:xfrm>
          <a:prstGeom prst="rect">
            <a:avLst/>
          </a:prstGeom>
          <a:solidFill>
            <a:srgbClr val="143847"/>
          </a:solidFill>
          <a:ln w="12700">
            <a:solidFill>
              <a:srgbClr val="143847"/>
            </a:solidFill>
            <a:prstDash val="solid"/>
          </a:ln>
        </p:spPr>
      </p:sp>
      <p:sp>
        <p:nvSpPr>
          <p:cNvPr id="31" name="Text 29"/>
          <p:cNvSpPr/>
          <p:nvPr/>
        </p:nvSpPr>
        <p:spPr>
          <a:xfrm>
            <a:off x="4952848" y="3483864"/>
            <a:ext cx="86868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sp>
        <p:nvSpPr>
          <p:cNvPr id="32" name="Text 30"/>
          <p:cNvSpPr/>
          <p:nvPr/>
        </p:nvSpPr>
        <p:spPr>
          <a:xfrm>
            <a:off x="576072" y="3712464"/>
            <a:ext cx="5318608" cy="201168"/>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33" name="Text 31"/>
          <p:cNvSpPr/>
          <p:nvPr/>
        </p:nvSpPr>
        <p:spPr>
          <a:xfrm>
            <a:off x="576072" y="3913632"/>
            <a:ext cx="5318608"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Whenever the aid skips an event, the participant should catch it manually. We record hit/miss and reaction time.</a:t>
            </a:r>
            <a:endParaRPr lang="en-US" sz="1050" dirty="0"/>
          </a:p>
        </p:txBody>
      </p:sp>
      <p:sp>
        <p:nvSpPr>
          <p:cNvPr id="34" name="Shape 32"/>
          <p:cNvSpPr/>
          <p:nvPr/>
        </p:nvSpPr>
        <p:spPr>
          <a:xfrm>
            <a:off x="6187288" y="3383280"/>
            <a:ext cx="5592928" cy="1417320"/>
          </a:xfrm>
          <a:prstGeom prst="rect">
            <a:avLst/>
          </a:prstGeom>
          <a:solidFill>
            <a:srgbClr val="FFFFFF"/>
          </a:solidFill>
          <a:ln w="9525">
            <a:solidFill>
              <a:srgbClr val="C9D2D9"/>
            </a:solidFill>
            <a:prstDash val="solid"/>
          </a:ln>
        </p:spPr>
      </p:sp>
      <p:sp>
        <p:nvSpPr>
          <p:cNvPr id="35" name="Shape 33"/>
          <p:cNvSpPr/>
          <p:nvPr/>
        </p:nvSpPr>
        <p:spPr>
          <a:xfrm>
            <a:off x="6187288" y="3383280"/>
            <a:ext cx="73152" cy="1417320"/>
          </a:xfrm>
          <a:prstGeom prst="rect">
            <a:avLst/>
          </a:prstGeom>
          <a:solidFill>
            <a:srgbClr val="143847"/>
          </a:solidFill>
          <a:ln w="12700">
            <a:solidFill>
              <a:srgbClr val="143847"/>
            </a:solidFill>
            <a:prstDash val="solid"/>
          </a:ln>
        </p:spPr>
      </p:sp>
      <p:sp>
        <p:nvSpPr>
          <p:cNvPr id="36" name="Text 34"/>
          <p:cNvSpPr/>
          <p:nvPr/>
        </p:nvSpPr>
        <p:spPr>
          <a:xfrm>
            <a:off x="6351880" y="3456432"/>
            <a:ext cx="4312768" cy="274320"/>
          </a:xfrm>
          <a:prstGeom prst="rect">
            <a:avLst/>
          </a:prstGeom>
          <a:noFill/>
          <a:ln/>
        </p:spPr>
        <p:txBody>
          <a:bodyPr wrap="square" lIns="0" tIns="0" rIns="0" bIns="0" rtlCol="0" anchor="ctr"/>
          <a:lstStyle/>
          <a:p>
            <a:pPr indent="0" marL="0">
              <a:buNone/>
            </a:pPr>
            <a:r>
              <a:rPr lang="en-US" sz="1200" b="1" dirty="0">
                <a:solidFill>
                  <a:srgbClr val="143847"/>
                </a:solidFill>
                <a:latin typeface="Calibri" pitchFamily="34" charset="0"/>
                <a:ea typeface="Calibri" pitchFamily="34" charset="-122"/>
                <a:cs typeface="Calibri" pitchFamily="34" charset="-120"/>
              </a:rPr>
              <a:t>Non-automated task performance</a:t>
            </a:r>
            <a:endParaRPr lang="en-US" sz="1200" dirty="0"/>
          </a:p>
        </p:txBody>
      </p:sp>
      <p:sp>
        <p:nvSpPr>
          <p:cNvPr id="37" name="Shape 35"/>
          <p:cNvSpPr/>
          <p:nvPr/>
        </p:nvSpPr>
        <p:spPr>
          <a:xfrm>
            <a:off x="10728655" y="3474720"/>
            <a:ext cx="868680" cy="237744"/>
          </a:xfrm>
          <a:prstGeom prst="rect">
            <a:avLst/>
          </a:prstGeom>
          <a:solidFill>
            <a:srgbClr val="143847"/>
          </a:solidFill>
          <a:ln w="12700">
            <a:solidFill>
              <a:srgbClr val="143847"/>
            </a:solidFill>
            <a:prstDash val="solid"/>
          </a:ln>
        </p:spPr>
      </p:sp>
      <p:sp>
        <p:nvSpPr>
          <p:cNvPr id="38" name="Text 36"/>
          <p:cNvSpPr/>
          <p:nvPr/>
        </p:nvSpPr>
        <p:spPr>
          <a:xfrm>
            <a:off x="10728655" y="3483864"/>
            <a:ext cx="86868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H4</a:t>
            </a:r>
            <a:endParaRPr lang="en-US" sz="1000" dirty="0"/>
          </a:p>
        </p:txBody>
      </p:sp>
      <p:sp>
        <p:nvSpPr>
          <p:cNvPr id="39" name="Text 37"/>
          <p:cNvSpPr/>
          <p:nvPr/>
        </p:nvSpPr>
        <p:spPr>
          <a:xfrm>
            <a:off x="6351880" y="3712464"/>
            <a:ext cx="5318608" cy="201168"/>
          </a:xfrm>
          <a:prstGeom prst="rect">
            <a:avLst/>
          </a:prstGeom>
          <a:noFill/>
          <a:ln/>
        </p:spPr>
        <p:txBody>
          <a:bodyPr wrap="square" lIns="0" tIns="0" rIns="0" bIns="0" rtlCol="0" anchor="ctr"/>
          <a:lstStyle/>
          <a:p>
            <a:pPr indent="0" marL="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40" name="Text 38"/>
          <p:cNvSpPr/>
          <p:nvPr/>
        </p:nvSpPr>
        <p:spPr>
          <a:xfrm>
            <a:off x="6351880" y="3913632"/>
            <a:ext cx="5318608"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Communications: whether each radio call was answered correctly and how quickly. Scheduling: correct entries on a time-table. These tasks the aid does not help with — so they reveal whether reading less in the panel actually frees attention elsewhere.</a:t>
            </a:r>
            <a:endParaRPr lang="en-US" sz="1050" dirty="0"/>
          </a:p>
        </p:txBody>
      </p:sp>
      <p:sp>
        <p:nvSpPr>
          <p:cNvPr id="41" name="Shape 39"/>
          <p:cNvSpPr/>
          <p:nvPr/>
        </p:nvSpPr>
        <p:spPr>
          <a:xfrm>
            <a:off x="411480" y="4937760"/>
            <a:ext cx="11368735" cy="960120"/>
          </a:xfrm>
          <a:prstGeom prst="rect">
            <a:avLst/>
          </a:prstGeom>
          <a:solidFill>
            <a:srgbClr val="F4F6F8"/>
          </a:solidFill>
          <a:ln w="9525">
            <a:solidFill>
              <a:srgbClr val="C9D2D9"/>
            </a:solidFill>
            <a:prstDash val="solid"/>
          </a:ln>
        </p:spPr>
      </p:sp>
      <p:sp>
        <p:nvSpPr>
          <p:cNvPr id="42" name="Shape 40"/>
          <p:cNvSpPr/>
          <p:nvPr/>
        </p:nvSpPr>
        <p:spPr>
          <a:xfrm>
            <a:off x="411480" y="4937760"/>
            <a:ext cx="91440" cy="960120"/>
          </a:xfrm>
          <a:prstGeom prst="rect">
            <a:avLst/>
          </a:prstGeom>
          <a:solidFill>
            <a:srgbClr val="8C1D2C"/>
          </a:solidFill>
          <a:ln w="12700">
            <a:solidFill>
              <a:srgbClr val="8C1D2C"/>
            </a:solidFill>
            <a:prstDash val="solid"/>
          </a:ln>
        </p:spPr>
      </p:sp>
      <p:sp>
        <p:nvSpPr>
          <p:cNvPr id="43" name="Text 41"/>
          <p:cNvSpPr/>
          <p:nvPr/>
        </p:nvSpPr>
        <p:spPr>
          <a:xfrm>
            <a:off x="640080" y="4992624"/>
            <a:ext cx="11140135" cy="274320"/>
          </a:xfrm>
          <a:prstGeom prst="rect">
            <a:avLst/>
          </a:prstGeom>
          <a:noFill/>
          <a:ln/>
        </p:spPr>
        <p:txBody>
          <a:bodyPr wrap="square" lIns="0" tIns="0" rIns="0" bIns="0" rtlCol="0" anchor="ctr"/>
          <a:lstStyle/>
          <a:p>
            <a:pPr indent="0" marL="0">
              <a:buNone/>
            </a:pPr>
            <a:r>
              <a:rPr lang="en-US" sz="1200" b="1" dirty="0">
                <a:solidFill>
                  <a:srgbClr val="8C1D2C"/>
                </a:solidFill>
                <a:latin typeface="Calibri" pitchFamily="34" charset="0"/>
                <a:ea typeface="Calibri" pitchFamily="34" charset="-122"/>
                <a:cs typeface="Calibri" pitchFamily="34" charset="-120"/>
              </a:rPr>
              <a:t>Considerations &amp; limits</a:t>
            </a:r>
            <a:endParaRPr lang="en-US" sz="1200" dirty="0"/>
          </a:p>
        </p:txBody>
      </p:sp>
      <p:sp>
        <p:nvSpPr>
          <p:cNvPr id="44" name="Text 42"/>
          <p:cNvSpPr/>
          <p:nvPr/>
        </p:nvSpPr>
        <p:spPr>
          <a:xfrm>
            <a:off x="640080" y="5266944"/>
            <a:ext cx="11140135" cy="594360"/>
          </a:xfrm>
          <a:prstGeom prst="rect">
            <a:avLst/>
          </a:prstGeom>
          <a:noFill/>
          <a:ln/>
        </p:spPr>
        <p:txBody>
          <a:bodyPr wrap="square" lIns="0" tIns="0" rIns="0" bIns="0" rtlCol="0" anchor="t"/>
          <a:lstStyle/>
          <a:p>
            <a:pPr indent="0" marL="0">
              <a:spcAft>
                <a:spcPts val="200"/>
              </a:spcAft>
              <a:buNone/>
            </a:pPr>
            <a:r>
              <a:rPr lang="en-US" sz="1100" dirty="0">
                <a:solidFill>
                  <a:srgbClr val="1A1A1A"/>
                </a:solidFill>
                <a:latin typeface="Calibri" pitchFamily="34" charset="0"/>
                <a:ea typeface="Calibri" pitchFamily="34" charset="-122"/>
                <a:cs typeface="Calibri" pitchFamily="34" charset="-120"/>
              </a:rPr>
              <a:t>Content matching across F1/F2/F3 is the central design constraint — any leak invalidates the form-vs-content comparison.</a:t>
            </a:r>
            <a:endParaRPr lang="en-US" sz="1100" dirty="0"/>
          </a:p>
          <a:p>
            <a:pPr indent="0" marL="0">
              <a:spcAft>
                <a:spcPts val="200"/>
              </a:spcAft>
              <a:buNone/>
            </a:pPr>
            <a:r>
              <a:rPr lang="en-US" sz="1100" dirty="0">
                <a:solidFill>
                  <a:srgbClr val="1A1A1A"/>
                </a:solidFill>
                <a:latin typeface="Calibri" pitchFamily="34" charset="0"/>
                <a:ea typeface="Calibri" pitchFamily="34" charset="-122"/>
                <a:cs typeface="Calibri" pitchFamily="34" charset="-120"/>
              </a:rPr>
              <a:t>Load is held at a single moderate level; generalisation across load levels is a stated limitation, not a confound.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 of Explanation - Explainability vs. Explicability under Multitasking Load</dc:title>
  <dc:subject>PptxGenJS Presentation</dc:subject>
  <dc:creator>Group Z</dc:creator>
  <cp:lastModifiedBy>Group Z</cp:lastModifiedBy>
  <cp:revision>1</cp:revision>
  <dcterms:created xsi:type="dcterms:W3CDTF">2026-05-16T06:38:32Z</dcterms:created>
  <dcterms:modified xsi:type="dcterms:W3CDTF">2026-05-16T06:38:32Z</dcterms:modified>
</cp:coreProperties>
</file>